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0" r:id="rId9"/>
    <p:sldId id="267" r:id="rId10"/>
    <p:sldId id="268" r:id="rId11"/>
    <p:sldId id="269" r:id="rId12"/>
    <p:sldId id="270" r:id="rId13"/>
    <p:sldId id="261" r:id="rId14"/>
    <p:sldId id="263" r:id="rId15"/>
    <p:sldId id="271" r:id="rId16"/>
    <p:sldId id="272" r:id="rId17"/>
    <p:sldId id="273" r:id="rId18"/>
    <p:sldId id="274" r:id="rId19"/>
    <p:sldId id="262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94D453-AD8F-B835-5067-2B1F69FD1A35}" v="386" dt="2026-01-25T22:57:54.639"/>
    <p1510:client id="{9E4D5E21-211B-9264-08FF-696CBEDF602C}" v="1162" dt="2026-01-25T22:30:46.8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428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79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821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150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52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750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12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2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897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496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779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902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 userDrawn="1">
          <p15:clr>
            <a:srgbClr val="F26B43"/>
          </p15:clr>
        </p15:guide>
        <p15:guide id="4" pos="3840" userDrawn="1">
          <p15:clr>
            <a:srgbClr val="F26B43"/>
          </p15:clr>
        </p15:guide>
        <p15:guide id="5" pos="576" userDrawn="1">
          <p15:clr>
            <a:srgbClr val="F26B43"/>
          </p15:clr>
        </p15:guide>
        <p15:guide id="6" orient="horz" pos="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Vector background of vibrant colors splashing">
            <a:extLst>
              <a:ext uri="{FF2B5EF4-FFF2-40B4-BE49-F238E27FC236}">
                <a16:creationId xmlns:a16="http://schemas.microsoft.com/office/drawing/2014/main" id="{F130ADE6-8253-C2AA-9BC1-43A79F46EC4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4930" r="9085" b="-7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985233"/>
            <a:ext cx="10802663" cy="3355853"/>
          </a:xfrm>
        </p:spPr>
        <p:txBody>
          <a:bodyPr anchor="t">
            <a:normAutofit/>
          </a:bodyPr>
          <a:lstStyle/>
          <a:p>
            <a:r>
              <a:rPr lang="en-US" sz="6000" b="0" dirty="0" err="1">
                <a:solidFill>
                  <a:srgbClr val="FFFFFF"/>
                </a:solidFill>
                <a:ea typeface="+mj-lt"/>
                <a:cs typeface="+mj-lt"/>
              </a:rPr>
              <a:t>Otpornost</a:t>
            </a:r>
            <a:r>
              <a:rPr lang="en-US" sz="6000" b="0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sz="6000" b="0" dirty="0" err="1">
                <a:solidFill>
                  <a:srgbClr val="FFFFFF"/>
                </a:solidFill>
                <a:ea typeface="+mj-lt"/>
                <a:cs typeface="+mj-lt"/>
              </a:rPr>
              <a:t>i</a:t>
            </a:r>
            <a:r>
              <a:rPr lang="en-US" sz="6000" b="0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sz="6000" b="0" dirty="0" err="1">
                <a:solidFill>
                  <a:srgbClr val="FFFFFF"/>
                </a:solidFill>
                <a:ea typeface="+mj-lt"/>
                <a:cs typeface="+mj-lt"/>
              </a:rPr>
              <a:t>tolerancija</a:t>
            </a:r>
            <a:r>
              <a:rPr lang="en-US" sz="6000" b="0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sz="6000" b="0" dirty="0" err="1">
                <a:solidFill>
                  <a:srgbClr val="FFFFFF"/>
                </a:solidFill>
                <a:ea typeface="+mj-lt"/>
                <a:cs typeface="+mj-lt"/>
              </a:rPr>
              <a:t>na</a:t>
            </a:r>
            <a:r>
              <a:rPr lang="en-US" sz="6000" b="0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sz="6000" b="0" dirty="0" err="1">
                <a:solidFill>
                  <a:srgbClr val="FFFFFF"/>
                </a:solidFill>
                <a:ea typeface="+mj-lt"/>
                <a:cs typeface="+mj-lt"/>
              </a:rPr>
              <a:t>greške</a:t>
            </a:r>
            <a:r>
              <a:rPr lang="en-US" sz="6000" b="0" dirty="0">
                <a:solidFill>
                  <a:srgbClr val="FFFFFF"/>
                </a:solidFill>
                <a:ea typeface="+mj-lt"/>
                <a:cs typeface="+mj-lt"/>
              </a:rPr>
              <a:t> u Java </a:t>
            </a:r>
            <a:r>
              <a:rPr lang="en-US" sz="6000" b="0" dirty="0" err="1">
                <a:solidFill>
                  <a:srgbClr val="FFFFFF"/>
                </a:solidFill>
                <a:ea typeface="+mj-lt"/>
                <a:cs typeface="+mj-lt"/>
              </a:rPr>
              <a:t>aplikacijama</a:t>
            </a:r>
            <a:r>
              <a:rPr lang="en-US" sz="6000" b="0" dirty="0">
                <a:solidFill>
                  <a:srgbClr val="FFFFFF"/>
                </a:solidFill>
                <a:ea typeface="+mj-lt"/>
                <a:cs typeface="+mj-lt"/>
              </a:rPr>
              <a:t> </a:t>
            </a:r>
            <a:r>
              <a:rPr lang="en-US" sz="6000" b="0" dirty="0" err="1">
                <a:solidFill>
                  <a:srgbClr val="FFFFFF"/>
                </a:solidFill>
                <a:ea typeface="+mj-lt"/>
                <a:cs typeface="+mj-lt"/>
              </a:rPr>
              <a:t>korišćenjem</a:t>
            </a:r>
            <a:r>
              <a:rPr lang="en-US" sz="6000" b="0" dirty="0">
                <a:solidFill>
                  <a:srgbClr val="FFFFFF"/>
                </a:solidFill>
                <a:ea typeface="+mj-lt"/>
                <a:cs typeface="+mj-lt"/>
              </a:rPr>
              <a:t> Resilience4j.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8324096" cy="1104721"/>
          </a:xfrm>
        </p:spPr>
        <p:txBody>
          <a:bodyPr anchor="t">
            <a:normAutofit fontScale="92500" lnSpcReduction="20000"/>
          </a:bodyPr>
          <a:lstStyle/>
          <a:p>
            <a:r>
              <a:rPr lang="en-US" b="0" dirty="0">
                <a:solidFill>
                  <a:srgbClr val="FFFFFF"/>
                </a:solidFill>
                <a:ea typeface="+mn-lt"/>
                <a:cs typeface="+mn-lt"/>
              </a:rPr>
              <a:t>NAPREDNO SOFTVERSKO </a:t>
            </a:r>
            <a:r>
              <a:rPr lang="en-US" b="0" dirty="0" err="1">
                <a:solidFill>
                  <a:srgbClr val="FFFFFF"/>
                </a:solidFill>
                <a:ea typeface="+mn-lt"/>
                <a:cs typeface="+mn-lt"/>
              </a:rPr>
              <a:t>INžENJERSTVO</a:t>
            </a:r>
            <a:endParaRPr lang="en-US" dirty="0" err="1">
              <a:ea typeface="+mn-lt"/>
              <a:cs typeface="+mn-lt"/>
            </a:endParaRPr>
          </a:p>
          <a:p>
            <a:r>
              <a:rPr lang="en-US" b="0" dirty="0">
                <a:solidFill>
                  <a:srgbClr val="FFFFFF"/>
                </a:solidFill>
                <a:ea typeface="+mn-lt"/>
                <a:cs typeface="+mn-lt"/>
              </a:rPr>
              <a:t>NIKOLA ZLATKOV 2024</a:t>
            </a:r>
            <a:br>
              <a:rPr lang="en-US" b="0" dirty="0">
                <a:solidFill>
                  <a:srgbClr val="FFFFFF"/>
                </a:solidFill>
                <a:ea typeface="+mn-lt"/>
                <a:cs typeface="+mn-lt"/>
              </a:rPr>
            </a:br>
            <a:r>
              <a:rPr lang="en-US" b="0" dirty="0">
                <a:solidFill>
                  <a:srgbClr val="FFFFFF"/>
                </a:solidFill>
                <a:ea typeface="+mn-lt"/>
                <a:cs typeface="+mn-lt"/>
              </a:rPr>
              <a:t>https://github.com/zlatkovnik/resilience4j-tutorial</a:t>
            </a:r>
            <a:endParaRPr lang="en-U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BAED1-7C37-2CBD-B088-902057882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Problem – </a:t>
            </a:r>
            <a:r>
              <a:rPr lang="en-US" dirty="0" err="1">
                <a:ea typeface="+mj-lt"/>
                <a:cs typeface="+mj-lt"/>
              </a:rPr>
              <a:t>Zašto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nam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treba</a:t>
            </a:r>
            <a:r>
              <a:rPr lang="en-US" dirty="0">
                <a:ea typeface="+mj-lt"/>
                <a:cs typeface="+mj-lt"/>
              </a:rPr>
              <a:t> Resilience?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A6A7B-08AF-0848-5B0B-A5DC8B578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ea typeface="+mn-lt"/>
                <a:cs typeface="+mn-lt"/>
              </a:rPr>
              <a:t>Kaskadni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otkaz</a:t>
            </a:r>
            <a:r>
              <a:rPr lang="en-US" b="1" dirty="0">
                <a:ea typeface="+mn-lt"/>
                <a:cs typeface="+mn-lt"/>
              </a:rPr>
              <a:t> (Cascading Failure):</a:t>
            </a:r>
            <a:r>
              <a:rPr lang="en-US" dirty="0">
                <a:ea typeface="+mn-lt"/>
                <a:cs typeface="+mn-lt"/>
              </a:rPr>
              <a:t> Ako </a:t>
            </a:r>
            <a:r>
              <a:rPr lang="en-US" dirty="0" err="1">
                <a:ea typeface="+mn-lt"/>
                <a:cs typeface="+mn-lt"/>
              </a:rPr>
              <a:t>jedan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servis</a:t>
            </a:r>
            <a:r>
              <a:rPr lang="en-US" dirty="0">
                <a:ea typeface="+mn-lt"/>
                <a:cs typeface="+mn-lt"/>
              </a:rPr>
              <a:t> u </a:t>
            </a:r>
            <a:r>
              <a:rPr lang="en-US" dirty="0" err="1">
                <a:ea typeface="+mn-lt"/>
                <a:cs typeface="+mn-lt"/>
              </a:rPr>
              <a:t>lancu</a:t>
            </a:r>
            <a:r>
              <a:rPr lang="en-US" dirty="0">
                <a:ea typeface="+mn-lt"/>
                <a:cs typeface="+mn-lt"/>
              </a:rPr>
              <a:t> ne </a:t>
            </a:r>
            <a:r>
              <a:rPr lang="en-US" dirty="0" err="1">
                <a:ea typeface="+mn-lt"/>
                <a:cs typeface="+mn-lt"/>
              </a:rPr>
              <a:t>radi</a:t>
            </a:r>
            <a:r>
              <a:rPr lang="en-US" dirty="0">
                <a:ea typeface="+mn-lt"/>
                <a:cs typeface="+mn-lt"/>
              </a:rPr>
              <a:t>, on </a:t>
            </a:r>
            <a:r>
              <a:rPr lang="en-US" dirty="0" err="1">
                <a:ea typeface="+mn-lt"/>
                <a:cs typeface="+mn-lt"/>
              </a:rPr>
              <a:t>može</a:t>
            </a:r>
            <a:r>
              <a:rPr lang="en-US" dirty="0">
                <a:ea typeface="+mn-lt"/>
                <a:cs typeface="+mn-lt"/>
              </a:rPr>
              <a:t> "</a:t>
            </a:r>
            <a:r>
              <a:rPr lang="en-US" dirty="0" err="1">
                <a:ea typeface="+mn-lt"/>
                <a:cs typeface="+mn-lt"/>
              </a:rPr>
              <a:t>povući</a:t>
            </a:r>
            <a:r>
              <a:rPr lang="en-US" dirty="0">
                <a:ea typeface="+mn-lt"/>
                <a:cs typeface="+mn-lt"/>
              </a:rPr>
              <a:t>" </a:t>
            </a:r>
            <a:r>
              <a:rPr lang="en-US" dirty="0" err="1">
                <a:ea typeface="+mn-lt"/>
                <a:cs typeface="+mn-lt"/>
              </a:rPr>
              <a:t>ceo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sistem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sobom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b="1" dirty="0" err="1">
                <a:ea typeface="+mn-lt"/>
                <a:cs typeface="+mn-lt"/>
              </a:rPr>
              <a:t>Nepredvidivost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Eksterni</a:t>
            </a:r>
            <a:r>
              <a:rPr lang="en-US" dirty="0">
                <a:ea typeface="+mn-lt"/>
                <a:cs typeface="+mn-lt"/>
              </a:rPr>
              <a:t> API-ji </a:t>
            </a:r>
            <a:r>
              <a:rPr lang="en-US" dirty="0" err="1">
                <a:ea typeface="+mn-lt"/>
                <a:cs typeface="+mn-lt"/>
              </a:rPr>
              <a:t>su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spori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imaju</a:t>
            </a:r>
            <a:r>
              <a:rPr lang="en-US" dirty="0">
                <a:ea typeface="+mn-lt"/>
                <a:cs typeface="+mn-lt"/>
              </a:rPr>
              <a:t> downtime </a:t>
            </a:r>
            <a:r>
              <a:rPr lang="en-US" dirty="0" err="1">
                <a:ea typeface="+mn-lt"/>
                <a:cs typeface="+mn-lt"/>
              </a:rPr>
              <a:t>ili</a:t>
            </a:r>
            <a:r>
              <a:rPr lang="en-US" dirty="0">
                <a:ea typeface="+mn-lt"/>
                <a:cs typeface="+mn-lt"/>
              </a:rPr>
              <a:t> timeout-e.</a:t>
            </a:r>
          </a:p>
          <a:p>
            <a:r>
              <a:rPr lang="en-US" b="1" dirty="0" err="1">
                <a:ea typeface="+mn-lt"/>
                <a:cs typeface="+mn-lt"/>
              </a:rPr>
              <a:t>Resursi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Čekanje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blokirane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odgovore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troši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memoriju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niti</a:t>
            </a:r>
            <a:r>
              <a:rPr lang="en-US" dirty="0">
                <a:ea typeface="+mn-lt"/>
                <a:cs typeface="+mn-lt"/>
              </a:rPr>
              <a:t> (threads) </a:t>
            </a:r>
            <a:r>
              <a:rPr lang="en-US" dirty="0" err="1">
                <a:ea typeface="+mn-lt"/>
                <a:cs typeface="+mn-lt"/>
              </a:rPr>
              <a:t>aplikacije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r>
              <a:rPr lang="en-US" b="1" dirty="0" err="1">
                <a:ea typeface="+mn-lt"/>
                <a:cs typeface="+mn-lt"/>
              </a:rPr>
              <a:t>Cilj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Sistem</a:t>
            </a:r>
            <a:r>
              <a:rPr lang="en-US" dirty="0">
                <a:ea typeface="+mn-lt"/>
                <a:cs typeface="+mn-lt"/>
              </a:rPr>
              <a:t> mora </a:t>
            </a:r>
            <a:r>
              <a:rPr lang="en-US" dirty="0" err="1">
                <a:ea typeface="+mn-lt"/>
                <a:cs typeface="+mn-lt"/>
              </a:rPr>
              <a:t>ostati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stabilan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čak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kada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delovi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sistema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otkažu</a:t>
            </a:r>
            <a:r>
              <a:rPr lang="en-US" dirty="0"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5078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DDF23-6F8C-6ECB-F06F-1C19AB74C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Šta</a:t>
            </a:r>
            <a:r>
              <a:rPr lang="en-US" dirty="0">
                <a:ea typeface="+mj-lt"/>
                <a:cs typeface="+mj-lt"/>
              </a:rPr>
              <a:t> je Resilience4j?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12AF7-5C29-833A-DB3F-975690D99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ea typeface="+mn-lt"/>
                <a:cs typeface="+mn-lt"/>
              </a:rPr>
              <a:t>Definicija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 Lightweight </a:t>
            </a:r>
            <a:r>
              <a:rPr lang="en-US" dirty="0" err="1">
                <a:ea typeface="+mn-lt"/>
                <a:cs typeface="+mn-lt"/>
              </a:rPr>
              <a:t>biblioteka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inspirisana</a:t>
            </a:r>
            <a:r>
              <a:rPr lang="en-US" dirty="0">
                <a:ea typeface="+mn-lt"/>
                <a:cs typeface="+mn-lt"/>
              </a:rPr>
              <a:t> Netflix Hystrix-om, </a:t>
            </a:r>
            <a:r>
              <a:rPr lang="en-US" dirty="0" err="1">
                <a:ea typeface="+mn-lt"/>
                <a:cs typeface="+mn-lt"/>
              </a:rPr>
              <a:t>ali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dizajnirana</a:t>
            </a:r>
            <a:r>
              <a:rPr lang="en-US" dirty="0">
                <a:ea typeface="+mn-lt"/>
                <a:cs typeface="+mn-lt"/>
              </a:rPr>
              <a:t> za Java 8+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funkcionalno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programiranje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Glavni</a:t>
            </a:r>
            <a:r>
              <a:rPr lang="en-US" b="1" dirty="0">
                <a:ea typeface="+mn-lt"/>
                <a:cs typeface="+mn-lt"/>
              </a:rPr>
              <a:t> moduli:</a:t>
            </a:r>
            <a:endParaRPr lang="en-US" dirty="0"/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Circuit Breaker: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Zaustavlja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pozive</a:t>
            </a:r>
            <a:r>
              <a:rPr lang="en-US" dirty="0">
                <a:ea typeface="+mn-lt"/>
                <a:cs typeface="+mn-lt"/>
              </a:rPr>
              <a:t> ka </a:t>
            </a:r>
            <a:r>
              <a:rPr lang="en-US" err="1">
                <a:ea typeface="+mn-lt"/>
                <a:cs typeface="+mn-lt"/>
              </a:rPr>
              <a:t>servisu</a:t>
            </a:r>
            <a:r>
              <a:rPr lang="en-US" dirty="0">
                <a:ea typeface="+mn-lt"/>
                <a:cs typeface="+mn-lt"/>
              </a:rPr>
              <a:t> koji je u </a:t>
            </a:r>
            <a:r>
              <a:rPr lang="en-US" err="1">
                <a:ea typeface="+mn-lt"/>
                <a:cs typeface="+mn-lt"/>
              </a:rPr>
              <a:t>kvaru</a:t>
            </a:r>
            <a:endParaRPr lang="en-US" dirty="0" err="1"/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Retry: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Automatski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ponavlja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neuspešne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pokušaje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Rate Limiter: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Ograničava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broj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poziva</a:t>
            </a:r>
            <a:r>
              <a:rPr lang="en-US" dirty="0">
                <a:ea typeface="+mn-lt"/>
                <a:cs typeface="+mn-lt"/>
              </a:rPr>
              <a:t> u </a:t>
            </a:r>
            <a:r>
              <a:rPr lang="en-US" dirty="0" err="1">
                <a:ea typeface="+mn-lt"/>
                <a:cs typeface="+mn-lt"/>
              </a:rPr>
              <a:t>vremenu</a:t>
            </a: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Bulkhead: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Izoluje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resurse</a:t>
            </a:r>
            <a:r>
              <a:rPr lang="en-US" dirty="0">
                <a:ea typeface="+mn-lt"/>
                <a:cs typeface="+mn-lt"/>
              </a:rPr>
              <a:t> (thread-</a:t>
            </a:r>
            <a:r>
              <a:rPr lang="en-US" dirty="0" err="1">
                <a:ea typeface="+mn-lt"/>
                <a:cs typeface="+mn-lt"/>
              </a:rPr>
              <a:t>ove</a:t>
            </a:r>
            <a:r>
              <a:rPr lang="en-US" dirty="0">
                <a:ea typeface="+mn-lt"/>
                <a:cs typeface="+mn-lt"/>
              </a:rPr>
              <a:t>) za </a:t>
            </a:r>
            <a:r>
              <a:rPr lang="en-US" dirty="0" err="1">
                <a:ea typeface="+mn-lt"/>
                <a:cs typeface="+mn-lt"/>
              </a:rPr>
              <a:t>različite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servise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DF6A4-1CC7-2AC7-43B3-196B37743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AEE64-52A5-45CF-8F9F-98C211555A6B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5FA11-E9AB-C89C-5DCB-02ABD4565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0236C-8DFE-BCBF-64CB-25F6DE4E0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600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6E60C-CC8A-A8CF-3BC5-985F32007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Circuit Breaker (</a:t>
            </a:r>
            <a:r>
              <a:rPr lang="en-US" dirty="0" err="1">
                <a:ea typeface="+mj-lt"/>
                <a:cs typeface="+mj-lt"/>
              </a:rPr>
              <a:t>Prekidač</a:t>
            </a:r>
            <a:r>
              <a:rPr lang="en-US" dirty="0">
                <a:ea typeface="+mj-lt"/>
                <a:cs typeface="+mj-lt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9DEDB-B2C7-8157-9C1B-6B23E6FC7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Radi po </a:t>
            </a:r>
            <a:r>
              <a:rPr lang="en-US" dirty="0" err="1">
                <a:ea typeface="+mn-lt"/>
                <a:cs typeface="+mn-lt"/>
              </a:rPr>
              <a:t>principu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električnog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prekidača</a:t>
            </a:r>
            <a:r>
              <a:rPr lang="en-US" dirty="0">
                <a:ea typeface="+mn-lt"/>
                <a:cs typeface="+mn-lt"/>
              </a:rPr>
              <a:t>. Ako </a:t>
            </a:r>
            <a:r>
              <a:rPr lang="en-US" dirty="0" err="1">
                <a:ea typeface="+mn-lt"/>
                <a:cs typeface="+mn-lt"/>
              </a:rPr>
              <a:t>servis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počne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greši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prekidač</a:t>
            </a:r>
            <a:r>
              <a:rPr lang="en-US" dirty="0">
                <a:ea typeface="+mn-lt"/>
                <a:cs typeface="+mn-lt"/>
              </a:rPr>
              <a:t> se "</a:t>
            </a:r>
            <a:r>
              <a:rPr lang="en-US" dirty="0" err="1">
                <a:ea typeface="+mn-lt"/>
                <a:cs typeface="+mn-lt"/>
              </a:rPr>
              <a:t>otvara</a:t>
            </a:r>
            <a:r>
              <a:rPr lang="en-US" dirty="0">
                <a:ea typeface="+mn-lt"/>
                <a:cs typeface="+mn-lt"/>
              </a:rPr>
              <a:t>"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odmah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vraća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grešku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ili</a:t>
            </a:r>
            <a:r>
              <a:rPr lang="en-US" dirty="0">
                <a:ea typeface="+mn-lt"/>
                <a:cs typeface="+mn-lt"/>
              </a:rPr>
              <a:t> fallback) bez da </a:t>
            </a:r>
            <a:r>
              <a:rPr lang="en-US" dirty="0" err="1">
                <a:ea typeface="+mn-lt"/>
                <a:cs typeface="+mn-lt"/>
              </a:rPr>
              <a:t>uopšte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šalje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zahtev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preopterećenom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servisu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Closed: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Sve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radi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zahtevi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prolaze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Open: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Greške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prešle</a:t>
            </a:r>
            <a:r>
              <a:rPr lang="en-US" dirty="0">
                <a:ea typeface="+mn-lt"/>
                <a:cs typeface="+mn-lt"/>
              </a:rPr>
              <a:t> threshold, </a:t>
            </a:r>
            <a:r>
              <a:rPr lang="en-US" dirty="0" err="1">
                <a:ea typeface="+mn-lt"/>
                <a:cs typeface="+mn-lt"/>
              </a:rPr>
              <a:t>zahtevi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blokiraju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Half-Open: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Proverava</a:t>
            </a:r>
            <a:r>
              <a:rPr lang="en-US" dirty="0">
                <a:ea typeface="+mn-lt"/>
                <a:cs typeface="+mn-lt"/>
              </a:rPr>
              <a:t> se da li se </a:t>
            </a:r>
            <a:r>
              <a:rPr lang="en-US" dirty="0" err="1">
                <a:ea typeface="+mn-lt"/>
                <a:cs typeface="+mn-lt"/>
              </a:rPr>
              <a:t>servis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oporavio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slanjem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malog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broja</a:t>
            </a:r>
            <a:r>
              <a:rPr lang="en-US" dirty="0">
                <a:ea typeface="+mn-lt"/>
                <a:cs typeface="+mn-lt"/>
              </a:rPr>
              <a:t> test </a:t>
            </a:r>
            <a:r>
              <a:rPr lang="en-US" dirty="0" err="1">
                <a:ea typeface="+mn-lt"/>
                <a:cs typeface="+mn-lt"/>
              </a:rPr>
              <a:t>zahteva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30C90-460E-CC49-33A9-F728B6D89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CA645-89A9-4B00-8182-0B6610DBED68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C870C-D643-1CD8-F273-57CEA4AFD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BDE1B-BF54-3ED0-AD0B-51BFA32FA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69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1D752-A94D-771C-C5B8-B288687E3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Kako </a:t>
            </a:r>
            <a:r>
              <a:rPr lang="en-US" dirty="0" err="1">
                <a:ea typeface="+mj-lt"/>
                <a:cs typeface="+mj-lt"/>
              </a:rPr>
              <a:t>zapravo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funkcioniše</a:t>
            </a:r>
            <a:r>
              <a:rPr lang="en-US" dirty="0">
                <a:ea typeface="+mj-lt"/>
                <a:cs typeface="+mj-lt"/>
              </a:rPr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77C58-DC76-CAA0-38A8-C20AA5DF9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Resilience4j ne </a:t>
            </a:r>
            <a:r>
              <a:rPr lang="en-US" dirty="0" err="1">
                <a:ea typeface="+mn-lt"/>
                <a:cs typeface="+mn-lt"/>
              </a:rPr>
              <a:t>gleda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poslednju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grešku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već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koristi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Sliding Window</a:t>
            </a:r>
            <a:r>
              <a:rPr lang="en-US" dirty="0">
                <a:ea typeface="+mn-lt"/>
                <a:cs typeface="+mn-lt"/>
              </a:rPr>
              <a:t> da bi </a:t>
            </a:r>
            <a:r>
              <a:rPr lang="en-US" dirty="0" err="1">
                <a:ea typeface="+mn-lt"/>
                <a:cs typeface="+mn-lt"/>
              </a:rPr>
              <a:t>izračunao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procenat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neuspeha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Count-based: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Analizira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poslednjih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b="1" dirty="0">
                <a:ea typeface="+mn-lt"/>
                <a:cs typeface="+mn-lt"/>
              </a:rPr>
              <a:t>N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poziva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npr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err="1">
                <a:ea typeface="+mn-lt"/>
                <a:cs typeface="+mn-lt"/>
              </a:rPr>
              <a:t>poslednjih</a:t>
            </a:r>
            <a:r>
              <a:rPr lang="en-US" dirty="0">
                <a:ea typeface="+mn-lt"/>
                <a:cs typeface="+mn-lt"/>
              </a:rPr>
              <a:t> 100).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Time-based: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Analizira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pozive</a:t>
            </a:r>
            <a:r>
              <a:rPr lang="en-US" dirty="0">
                <a:ea typeface="+mn-lt"/>
                <a:cs typeface="+mn-lt"/>
              </a:rPr>
              <a:t> u </a:t>
            </a:r>
            <a:r>
              <a:rPr lang="en-US" dirty="0" err="1">
                <a:ea typeface="+mn-lt"/>
                <a:cs typeface="+mn-lt"/>
              </a:rPr>
              <a:t>poslednjih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sekundi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49B07-F2AB-8F4E-A1F1-8E06240AF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2B578-8B67-47B4-A763-EB526C185522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97D46-B0CB-D872-947B-84771D251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06AC8-8355-B245-9C25-64A992C00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39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0EA26-F9FC-487A-BFCA-8BE353E7E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Glavni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parametri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51CDA-CB13-E1C5-4B37-AA4589590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b="1" err="1">
                <a:latin typeface="Consolas"/>
              </a:rPr>
              <a:t>failureRateThreshold</a:t>
            </a:r>
            <a:r>
              <a:rPr lang="en-US" dirty="0"/>
              <a:t>: </a:t>
            </a:r>
            <a:r>
              <a:rPr lang="en-US" err="1"/>
              <a:t>Procenat</a:t>
            </a:r>
            <a:r>
              <a:rPr lang="en-US" dirty="0"/>
              <a:t> </a:t>
            </a:r>
            <a:r>
              <a:rPr lang="en-US" err="1"/>
              <a:t>grešaka</a:t>
            </a:r>
            <a:r>
              <a:rPr lang="en-US" dirty="0"/>
              <a:t> (</a:t>
            </a:r>
            <a:r>
              <a:rPr lang="en-US" err="1"/>
              <a:t>npr</a:t>
            </a:r>
            <a:r>
              <a:rPr lang="en-US" dirty="0"/>
              <a:t>. 50%). Ako </a:t>
            </a:r>
            <a:r>
              <a:rPr lang="en-US" err="1"/>
              <a:t>više</a:t>
            </a:r>
            <a:r>
              <a:rPr lang="en-US" dirty="0"/>
              <a:t> od </a:t>
            </a:r>
            <a:r>
              <a:rPr lang="en-US" err="1"/>
              <a:t>pola</a:t>
            </a:r>
            <a:r>
              <a:rPr lang="en-US" dirty="0"/>
              <a:t> </a:t>
            </a:r>
            <a:r>
              <a:rPr lang="en-US" err="1"/>
              <a:t>poziva</a:t>
            </a:r>
            <a:r>
              <a:rPr lang="en-US" dirty="0"/>
              <a:t> u </a:t>
            </a:r>
            <a:r>
              <a:rPr lang="en-US" err="1"/>
              <a:t>prozoru</a:t>
            </a:r>
            <a:r>
              <a:rPr lang="en-US" dirty="0"/>
              <a:t> ne </a:t>
            </a:r>
            <a:r>
              <a:rPr lang="en-US" err="1"/>
              <a:t>uspe</a:t>
            </a:r>
            <a:r>
              <a:rPr lang="en-US" dirty="0"/>
              <a:t>, </a:t>
            </a:r>
            <a:r>
              <a:rPr lang="en-US" err="1"/>
              <a:t>prekidač</a:t>
            </a:r>
            <a:r>
              <a:rPr lang="en-US" dirty="0"/>
              <a:t> se </a:t>
            </a:r>
            <a:r>
              <a:rPr lang="en-US" err="1"/>
              <a:t>otvara</a:t>
            </a:r>
            <a:r>
              <a:rPr lang="en-US" dirty="0"/>
              <a:t>.</a:t>
            </a:r>
          </a:p>
          <a:p>
            <a:r>
              <a:rPr lang="en-US" b="1" err="1">
                <a:latin typeface="Consolas"/>
              </a:rPr>
              <a:t>slidingWindowSize</a:t>
            </a:r>
            <a:r>
              <a:rPr lang="en-US" dirty="0"/>
              <a:t>: </a:t>
            </a:r>
            <a:r>
              <a:rPr lang="en-US" err="1"/>
              <a:t>Veličina</a:t>
            </a:r>
            <a:r>
              <a:rPr lang="en-US" dirty="0"/>
              <a:t> </a:t>
            </a:r>
            <a:r>
              <a:rPr lang="en-US" err="1"/>
              <a:t>uzorka</a:t>
            </a:r>
            <a:r>
              <a:rPr lang="en-US" dirty="0"/>
              <a:t> (npr.10 </a:t>
            </a:r>
            <a:r>
              <a:rPr lang="en-US" err="1"/>
              <a:t>poziva</a:t>
            </a:r>
            <a:r>
              <a:rPr lang="en-US" dirty="0"/>
              <a:t>). </a:t>
            </a:r>
            <a:r>
              <a:rPr lang="en-US" err="1"/>
              <a:t>Premali</a:t>
            </a:r>
            <a:r>
              <a:rPr lang="en-US" dirty="0"/>
              <a:t> </a:t>
            </a:r>
            <a:r>
              <a:rPr lang="en-US" err="1"/>
              <a:t>uzorak</a:t>
            </a:r>
            <a:r>
              <a:rPr lang="en-US" dirty="0"/>
              <a:t> </a:t>
            </a:r>
            <a:r>
              <a:rPr lang="en-US" err="1"/>
              <a:t>izaziva</a:t>
            </a:r>
            <a:r>
              <a:rPr lang="en-US" dirty="0"/>
              <a:t> "</a:t>
            </a:r>
            <a:r>
              <a:rPr lang="en-US" err="1"/>
              <a:t>nervozan</a:t>
            </a:r>
            <a:r>
              <a:rPr lang="en-US" dirty="0"/>
              <a:t>" </a:t>
            </a:r>
            <a:r>
              <a:rPr lang="en-US" err="1"/>
              <a:t>prekidač</a:t>
            </a:r>
            <a:r>
              <a:rPr lang="en-US" dirty="0"/>
              <a:t>, </a:t>
            </a:r>
            <a:r>
              <a:rPr lang="en-US" err="1"/>
              <a:t>preveliki</a:t>
            </a:r>
            <a:r>
              <a:rPr lang="en-US" dirty="0"/>
              <a:t> </a:t>
            </a:r>
            <a:r>
              <a:rPr lang="en-US" err="1"/>
              <a:t>uzorak</a:t>
            </a:r>
            <a:r>
              <a:rPr lang="en-US" dirty="0"/>
              <a:t> </a:t>
            </a:r>
            <a:r>
              <a:rPr lang="en-US" err="1"/>
              <a:t>sporo</a:t>
            </a:r>
            <a:r>
              <a:rPr lang="en-US" dirty="0"/>
              <a:t> </a:t>
            </a:r>
            <a:r>
              <a:rPr lang="en-US" err="1"/>
              <a:t>reaguje</a:t>
            </a:r>
            <a:r>
              <a:rPr lang="en-US" dirty="0"/>
              <a:t>.</a:t>
            </a:r>
          </a:p>
          <a:p>
            <a:r>
              <a:rPr lang="en-US" b="1" err="1">
                <a:latin typeface="Consolas"/>
              </a:rPr>
              <a:t>waitDurationInOpenState</a:t>
            </a:r>
            <a:r>
              <a:rPr lang="en-US" dirty="0"/>
              <a:t>: Koliko </a:t>
            </a:r>
            <a:r>
              <a:rPr lang="en-US" err="1"/>
              <a:t>dugo</a:t>
            </a:r>
            <a:r>
              <a:rPr lang="en-US" dirty="0"/>
              <a:t> </a:t>
            </a:r>
            <a:r>
              <a:rPr lang="en-US" err="1"/>
              <a:t>prekidač</a:t>
            </a:r>
            <a:r>
              <a:rPr lang="en-US" dirty="0"/>
              <a:t> </a:t>
            </a:r>
            <a:r>
              <a:rPr lang="en-US" err="1"/>
              <a:t>ostaje</a:t>
            </a:r>
            <a:r>
              <a:rPr lang="en-US" dirty="0"/>
              <a:t> </a:t>
            </a:r>
            <a:r>
              <a:rPr lang="en-US" b="1" dirty="0"/>
              <a:t>OPEN</a:t>
            </a:r>
            <a:r>
              <a:rPr lang="en-US" dirty="0"/>
              <a:t> pre </a:t>
            </a:r>
            <a:r>
              <a:rPr lang="en-US" err="1"/>
              <a:t>nego</a:t>
            </a:r>
            <a:r>
              <a:rPr lang="en-US" dirty="0"/>
              <a:t> </a:t>
            </a:r>
            <a:r>
              <a:rPr lang="en-US" err="1"/>
              <a:t>što</a:t>
            </a:r>
            <a:r>
              <a:rPr lang="en-US" dirty="0"/>
              <a:t> </a:t>
            </a:r>
            <a:r>
              <a:rPr lang="en-US" err="1"/>
              <a:t>pređe</a:t>
            </a:r>
            <a:r>
              <a:rPr lang="en-US" dirty="0"/>
              <a:t> u </a:t>
            </a:r>
            <a:r>
              <a:rPr lang="en-US" b="1" dirty="0"/>
              <a:t>HALF-OPEN</a:t>
            </a:r>
            <a:r>
              <a:rPr lang="en-US" dirty="0"/>
              <a:t> (</a:t>
            </a:r>
            <a:r>
              <a:rPr lang="en-US" err="1"/>
              <a:t>vreme</a:t>
            </a:r>
            <a:r>
              <a:rPr lang="en-US" dirty="0"/>
              <a:t> </a:t>
            </a:r>
            <a:r>
              <a:rPr lang="en-US" err="1"/>
              <a:t>hlađenja</a:t>
            </a:r>
            <a:r>
              <a:rPr lang="en-US" dirty="0"/>
              <a:t>).</a:t>
            </a:r>
          </a:p>
          <a:p>
            <a:r>
              <a:rPr lang="en-US" b="1" dirty="0" err="1">
                <a:latin typeface="Consolas"/>
              </a:rPr>
              <a:t>permittedNumberOfCallsInHalfOpenState</a:t>
            </a:r>
            <a:r>
              <a:rPr lang="en-US" dirty="0"/>
              <a:t>: Koliko "</a:t>
            </a:r>
            <a:r>
              <a:rPr lang="en-US" dirty="0" err="1"/>
              <a:t>probna</a:t>
            </a:r>
            <a:r>
              <a:rPr lang="en-US" dirty="0"/>
              <a:t>" </a:t>
            </a:r>
            <a:r>
              <a:rPr lang="en-US" dirty="0" err="1"/>
              <a:t>poziva</a:t>
            </a:r>
            <a:r>
              <a:rPr lang="en-US" dirty="0"/>
              <a:t> </a:t>
            </a:r>
            <a:r>
              <a:rPr lang="en-US" dirty="0" err="1"/>
              <a:t>puštamo</a:t>
            </a:r>
            <a:r>
              <a:rPr lang="en-US" dirty="0"/>
              <a:t> u Half-Open </a:t>
            </a:r>
            <a:r>
              <a:rPr lang="en-US" dirty="0" err="1"/>
              <a:t>stanju</a:t>
            </a:r>
            <a:r>
              <a:rPr lang="en-US" dirty="0"/>
              <a:t> da </a:t>
            </a:r>
            <a:r>
              <a:rPr lang="en-US" dirty="0" err="1"/>
              <a:t>bismo</a:t>
            </a:r>
            <a:r>
              <a:rPr lang="en-US" dirty="0"/>
              <a:t> </a:t>
            </a:r>
            <a:r>
              <a:rPr lang="en-US" dirty="0" err="1"/>
              <a:t>proverili</a:t>
            </a:r>
            <a:r>
              <a:rPr lang="en-US" dirty="0"/>
              <a:t> da li se sistem </a:t>
            </a:r>
            <a:r>
              <a:rPr lang="en-US" dirty="0" err="1"/>
              <a:t>oporavio</a:t>
            </a:r>
            <a:r>
              <a:rPr lang="en-US" dirty="0"/>
              <a:t>.</a:t>
            </a:r>
          </a:p>
          <a:p>
            <a:r>
              <a:rPr lang="en-US" b="1" dirty="0" err="1">
                <a:latin typeface="Consolas"/>
                <a:ea typeface="+mn-lt"/>
                <a:cs typeface="+mn-lt"/>
              </a:rPr>
              <a:t>slowCallRateThreshold</a:t>
            </a:r>
            <a:r>
              <a:rPr lang="en-US" dirty="0">
                <a:latin typeface="Grandview Display"/>
                <a:ea typeface="+mn-lt"/>
                <a:cs typeface="+mn-lt"/>
              </a:rPr>
              <a:t>:</a:t>
            </a:r>
            <a:r>
              <a:rPr lang="en-US" b="1" dirty="0">
                <a:latin typeface="Consolas"/>
                <a:ea typeface="+mn-lt"/>
                <a:cs typeface="+mn-lt"/>
              </a:rPr>
              <a:t> </a:t>
            </a:r>
            <a:r>
              <a:rPr lang="en-US" dirty="0" err="1">
                <a:latin typeface="Grandview Display"/>
                <a:ea typeface="+mn-lt"/>
                <a:cs typeface="+mn-lt"/>
              </a:rPr>
              <a:t>određuje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procenat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sporih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poziva</a:t>
            </a:r>
            <a:r>
              <a:rPr lang="en-US" dirty="0">
                <a:ea typeface="+mn-lt"/>
                <a:cs typeface="+mn-lt"/>
              </a:rPr>
              <a:t> koji je </a:t>
            </a:r>
            <a:r>
              <a:rPr lang="en-US" dirty="0" err="1">
                <a:ea typeface="+mn-lt"/>
                <a:cs typeface="+mn-lt"/>
              </a:rPr>
              <a:t>dozvoljen</a:t>
            </a:r>
            <a:r>
              <a:rPr lang="en-US" dirty="0">
                <a:ea typeface="+mn-lt"/>
                <a:cs typeface="+mn-lt"/>
              </a:rPr>
              <a:t> pre </a:t>
            </a:r>
            <a:r>
              <a:rPr lang="en-US" dirty="0" err="1">
                <a:ea typeface="+mn-lt"/>
                <a:cs typeface="+mn-lt"/>
              </a:rPr>
              <a:t>nego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što</a:t>
            </a:r>
            <a:r>
              <a:rPr lang="en-US" dirty="0">
                <a:ea typeface="+mn-lt"/>
                <a:cs typeface="+mn-lt"/>
              </a:rPr>
              <a:t> se Circuit Breaker </a:t>
            </a:r>
            <a:r>
              <a:rPr lang="en-US" dirty="0" err="1">
                <a:ea typeface="+mn-lt"/>
                <a:cs typeface="+mn-lt"/>
              </a:rPr>
              <a:t>otvori</a:t>
            </a:r>
            <a:r>
              <a:rPr lang="en-US" dirty="0">
                <a:ea typeface="+mn-lt"/>
                <a:cs typeface="+mn-lt"/>
              </a:rPr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0C6C9-E8D3-6C54-8F69-4A12B7676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4A067-6559-41F4-A9D8-FE87A2DB1968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119F5-26D5-CB07-5014-129CED7CE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8F5F5-D6ED-C6FA-B6C1-DBF44F466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9869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DACA-ECF0-EEE1-58E2-F6CB57FA6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Lifecycle (</a:t>
            </a:r>
            <a:r>
              <a:rPr lang="en-US" dirty="0" err="1"/>
              <a:t>Tranzicije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9A3E9-E9E3-80E9-F9F3-D26118EC7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CLOSED</a:t>
            </a:r>
            <a:r>
              <a:rPr lang="en-US" dirty="0">
                <a:ea typeface="+mn-lt"/>
                <a:cs typeface="+mn-lt"/>
              </a:rPr>
              <a:t> -&gt; </a:t>
            </a:r>
            <a:r>
              <a:rPr lang="en-US" b="1" dirty="0">
                <a:ea typeface="+mn-lt"/>
                <a:cs typeface="+mn-lt"/>
              </a:rPr>
              <a:t>OPEN</a:t>
            </a:r>
            <a:r>
              <a:rPr lang="en-US" dirty="0">
                <a:ea typeface="+mn-lt"/>
                <a:cs typeface="+mn-lt"/>
              </a:rPr>
              <a:t>: Kada </a:t>
            </a:r>
            <a:r>
              <a:rPr lang="en-US" dirty="0" err="1">
                <a:ea typeface="+mn-lt"/>
                <a:cs typeface="+mn-lt"/>
              </a:rPr>
              <a:t>procenat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grešaka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pređe</a:t>
            </a:r>
            <a:r>
              <a:rPr lang="en-US" dirty="0">
                <a:ea typeface="+mn-lt"/>
                <a:cs typeface="+mn-lt"/>
              </a:rPr>
              <a:t> threshold.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OPEN</a:t>
            </a:r>
            <a:r>
              <a:rPr lang="en-US" dirty="0">
                <a:ea typeface="+mn-lt"/>
                <a:cs typeface="+mn-lt"/>
              </a:rPr>
              <a:t> -&gt; </a:t>
            </a:r>
            <a:r>
              <a:rPr lang="en-US" b="1" dirty="0">
                <a:ea typeface="+mn-lt"/>
                <a:cs typeface="+mn-lt"/>
              </a:rPr>
              <a:t>HALF-OPEN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Nakon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što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istekne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vreme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čekanja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HALF-OPEN</a:t>
            </a:r>
            <a:r>
              <a:rPr lang="en-US" dirty="0">
                <a:ea typeface="+mn-lt"/>
                <a:cs typeface="+mn-lt"/>
              </a:rPr>
              <a:t> -&gt; </a:t>
            </a:r>
            <a:r>
              <a:rPr lang="en-US" b="1" dirty="0">
                <a:ea typeface="+mn-lt"/>
                <a:cs typeface="+mn-lt"/>
              </a:rPr>
              <a:t>OPEN</a:t>
            </a:r>
            <a:r>
              <a:rPr lang="en-US" dirty="0">
                <a:ea typeface="+mn-lt"/>
                <a:cs typeface="+mn-lt"/>
              </a:rPr>
              <a:t>: Ako </a:t>
            </a:r>
            <a:r>
              <a:rPr lang="en-US" dirty="0" err="1">
                <a:ea typeface="+mn-lt"/>
                <a:cs typeface="+mn-lt"/>
              </a:rPr>
              <a:t>probni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pozivi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dalje</a:t>
            </a:r>
            <a:r>
              <a:rPr lang="en-US" dirty="0">
                <a:ea typeface="+mn-lt"/>
                <a:cs typeface="+mn-lt"/>
              </a:rPr>
              <a:t> ne </a:t>
            </a:r>
            <a:r>
              <a:rPr lang="en-US" dirty="0" err="1">
                <a:ea typeface="+mn-lt"/>
                <a:cs typeface="+mn-lt"/>
              </a:rPr>
              <a:t>uspevaju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HALF-OPEN</a:t>
            </a:r>
            <a:r>
              <a:rPr lang="en-US" dirty="0">
                <a:ea typeface="+mn-lt"/>
                <a:cs typeface="+mn-lt"/>
              </a:rPr>
              <a:t> -&gt; </a:t>
            </a:r>
            <a:r>
              <a:rPr lang="en-US" b="1" dirty="0">
                <a:ea typeface="+mn-lt"/>
                <a:cs typeface="+mn-lt"/>
              </a:rPr>
              <a:t>CLOSED</a:t>
            </a:r>
            <a:r>
              <a:rPr lang="en-US" dirty="0">
                <a:ea typeface="+mn-lt"/>
                <a:cs typeface="+mn-lt"/>
              </a:rPr>
              <a:t>: Ako </a:t>
            </a:r>
            <a:r>
              <a:rPr lang="en-US" dirty="0" err="1">
                <a:ea typeface="+mn-lt"/>
                <a:cs typeface="+mn-lt"/>
              </a:rPr>
              <a:t>probni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pozivi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prođu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uspešno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sistem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smatra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zdravim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201B4-3098-4AC4-FE1E-A2ACE63F1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7C32C-EA2E-44C6-9DE1-AB6D875221EB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356DC-015D-AB79-9ECE-303FFFBF6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9CAC3-839E-A18C-70CA-6D6CDEE55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229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CDAA-3AFA-9E5E-4CD0-44FC88F2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Bulkhead (</a:t>
            </a:r>
            <a:r>
              <a:rPr lang="en-US" dirty="0" err="1">
                <a:ea typeface="+mj-lt"/>
                <a:cs typeface="+mj-lt"/>
              </a:rPr>
              <a:t>Pregrada</a:t>
            </a:r>
            <a:r>
              <a:rPr lang="en-US" dirty="0">
                <a:ea typeface="+mj-lt"/>
                <a:cs typeface="+mj-lt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742D9-1691-7EC0-BAED-7CB2CA3DB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Inspirisan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pregradama</a:t>
            </a:r>
            <a:r>
              <a:rPr lang="en-US" dirty="0">
                <a:ea typeface="+mn-lt"/>
                <a:cs typeface="+mn-lt"/>
              </a:rPr>
              <a:t> u </a:t>
            </a:r>
            <a:r>
              <a:rPr lang="en-US" dirty="0" err="1">
                <a:ea typeface="+mn-lt"/>
                <a:cs typeface="+mn-lt"/>
              </a:rPr>
              <a:t>brodovima</a:t>
            </a:r>
            <a:r>
              <a:rPr lang="en-US" dirty="0">
                <a:ea typeface="+mn-lt"/>
                <a:cs typeface="+mn-lt"/>
              </a:rPr>
              <a:t>. Ako </a:t>
            </a:r>
            <a:r>
              <a:rPr lang="en-US" dirty="0" err="1">
                <a:ea typeface="+mn-lt"/>
                <a:cs typeface="+mn-lt"/>
              </a:rPr>
              <a:t>voda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prodre</a:t>
            </a:r>
            <a:r>
              <a:rPr lang="en-US" dirty="0">
                <a:ea typeface="+mn-lt"/>
                <a:cs typeface="+mn-lt"/>
              </a:rPr>
              <a:t> u </a:t>
            </a:r>
            <a:r>
              <a:rPr lang="en-US" dirty="0" err="1">
                <a:ea typeface="+mn-lt"/>
                <a:cs typeface="+mn-lt"/>
              </a:rPr>
              <a:t>jedan</a:t>
            </a:r>
            <a:r>
              <a:rPr lang="en-US" dirty="0">
                <a:ea typeface="+mn-lt"/>
                <a:cs typeface="+mn-lt"/>
              </a:rPr>
              <a:t> deo </a:t>
            </a:r>
            <a:r>
              <a:rPr lang="en-US" dirty="0" err="1">
                <a:ea typeface="+mn-lt"/>
                <a:cs typeface="+mn-lt"/>
              </a:rPr>
              <a:t>broda</a:t>
            </a:r>
            <a:r>
              <a:rPr lang="en-US" dirty="0">
                <a:ea typeface="+mn-lt"/>
                <a:cs typeface="+mn-lt"/>
              </a:rPr>
              <a:t>, on ne tone </a:t>
            </a:r>
            <a:r>
              <a:rPr lang="en-US" dirty="0" err="1">
                <a:ea typeface="+mn-lt"/>
                <a:cs typeface="+mn-lt"/>
              </a:rPr>
              <a:t>jer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ostali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delovi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izolovani</a:t>
            </a:r>
            <a:r>
              <a:rPr lang="en-US" dirty="0">
                <a:ea typeface="+mn-lt"/>
                <a:cs typeface="+mn-lt"/>
              </a:rPr>
              <a:t>. U </a:t>
            </a:r>
            <a:r>
              <a:rPr lang="en-US" dirty="0" err="1">
                <a:ea typeface="+mn-lt"/>
                <a:cs typeface="+mn-lt"/>
              </a:rPr>
              <a:t>kodu</a:t>
            </a:r>
            <a:r>
              <a:rPr lang="en-US" dirty="0">
                <a:ea typeface="+mn-lt"/>
                <a:cs typeface="+mn-lt"/>
              </a:rPr>
              <a:t> to </a:t>
            </a:r>
            <a:r>
              <a:rPr lang="en-US" dirty="0" err="1">
                <a:ea typeface="+mn-lt"/>
                <a:cs typeface="+mn-lt"/>
              </a:rPr>
              <a:t>znači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ograničavanje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broja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paralelnih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poziva</a:t>
            </a:r>
            <a:r>
              <a:rPr lang="en-US" dirty="0">
                <a:ea typeface="+mn-lt"/>
                <a:cs typeface="+mn-lt"/>
              </a:rPr>
              <a:t> ka </a:t>
            </a:r>
            <a:r>
              <a:rPr lang="en-US" dirty="0" err="1">
                <a:ea typeface="+mn-lt"/>
                <a:cs typeface="+mn-lt"/>
              </a:rPr>
              <a:t>određenom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servisu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kako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jedan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spor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servis</a:t>
            </a:r>
            <a:r>
              <a:rPr lang="en-US" dirty="0">
                <a:ea typeface="+mn-lt"/>
                <a:cs typeface="+mn-lt"/>
              </a:rPr>
              <a:t> ne bi </a:t>
            </a:r>
            <a:r>
              <a:rPr lang="en-US" dirty="0" err="1">
                <a:ea typeface="+mn-lt"/>
                <a:cs typeface="+mn-lt"/>
              </a:rPr>
              <a:t>pojeo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sve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resurse</a:t>
            </a:r>
            <a:r>
              <a:rPr lang="en-US" dirty="0">
                <a:ea typeface="+mn-lt"/>
                <a:cs typeface="+mn-lt"/>
              </a:rPr>
              <a:t> (thread-</a:t>
            </a:r>
            <a:r>
              <a:rPr lang="en-US" dirty="0" err="1">
                <a:ea typeface="+mn-lt"/>
                <a:cs typeface="+mn-lt"/>
              </a:rPr>
              <a:t>ove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aplikacije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93BC8-B664-40E7-F454-37265308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C5EF4-CF41-40E4-B7AA-7B7AD504241F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5E618-A541-7C49-D7BD-BAE193DF3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2FBB9-4A9C-65EF-A0F7-3E6E895D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89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127E3-3D1E-3EC4-9754-3F88FFC61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Exhaustion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AC795-59FA-7941-0E25-D60465748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Bez Bulkhead-a, </a:t>
            </a:r>
            <a:r>
              <a:rPr lang="en-US" dirty="0" err="1">
                <a:ea typeface="+mn-lt"/>
                <a:cs typeface="+mn-lt"/>
              </a:rPr>
              <a:t>ako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latin typeface="Consolas"/>
              </a:rPr>
              <a:t>Service 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postane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jako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spor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svi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dolazni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zahtevi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će</a:t>
            </a:r>
            <a:r>
              <a:rPr lang="en-US" dirty="0">
                <a:ea typeface="+mn-lt"/>
                <a:cs typeface="+mn-lt"/>
              </a:rPr>
              <a:t> se "</a:t>
            </a:r>
            <a:r>
              <a:rPr lang="en-US" dirty="0" err="1">
                <a:ea typeface="+mn-lt"/>
                <a:cs typeface="+mn-lt"/>
              </a:rPr>
              <a:t>zaglaviti</a:t>
            </a:r>
            <a:r>
              <a:rPr lang="en-US" dirty="0">
                <a:ea typeface="+mn-lt"/>
                <a:cs typeface="+mn-lt"/>
              </a:rPr>
              <a:t>" </a:t>
            </a:r>
            <a:r>
              <a:rPr lang="en-US" dirty="0" err="1">
                <a:ea typeface="+mn-lt"/>
                <a:cs typeface="+mn-lt"/>
              </a:rPr>
              <a:t>čekajući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njega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Ubrzo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će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ceo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Thread Pool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aplikacije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biti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zauzet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čekanjem</a:t>
            </a:r>
            <a:r>
              <a:rPr lang="en-US" dirty="0">
                <a:ea typeface="+mn-lt"/>
                <a:cs typeface="+mn-lt"/>
              </a:rPr>
              <a:t>, pa </a:t>
            </a:r>
            <a:r>
              <a:rPr lang="en-US" dirty="0" err="1">
                <a:ea typeface="+mn-lt"/>
                <a:cs typeface="+mn-lt"/>
              </a:rPr>
              <a:t>čak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funkcionalni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servisi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poput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latin typeface="Consolas"/>
              </a:rPr>
              <a:t>Service B</a:t>
            </a:r>
            <a:r>
              <a:rPr lang="en-US" dirty="0">
                <a:ea typeface="+mn-lt"/>
                <a:cs typeface="+mn-lt"/>
              </a:rPr>
              <a:t>) </a:t>
            </a:r>
            <a:r>
              <a:rPr lang="en-US" dirty="0" err="1">
                <a:ea typeface="+mn-lt"/>
                <a:cs typeface="+mn-lt"/>
              </a:rPr>
              <a:t>neće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moći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dobiju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slobodnu</a:t>
            </a:r>
            <a:r>
              <a:rPr lang="en-US" dirty="0">
                <a:ea typeface="+mn-lt"/>
                <a:cs typeface="+mn-lt"/>
              </a:rPr>
              <a:t> nit.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3DF4B-614C-D417-C3C0-EF20E97FD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A94C6-66A7-4D9A-81EB-501A8417E2B7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9E88B-5356-2374-4604-15E4125FD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2829D-0297-CA6F-E9DF-A675A7E92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6863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572DE-709A-794C-F3C7-2CC61BD1F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Tipovi</a:t>
            </a:r>
            <a:r>
              <a:rPr lang="en-US" dirty="0"/>
              <a:t> </a:t>
            </a:r>
            <a:r>
              <a:rPr lang="en-US" dirty="0" err="1"/>
              <a:t>implementacije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2C2EC5D-9D72-8580-294F-587F00ED12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2607801"/>
              </p:ext>
            </p:extLst>
          </p:nvPr>
        </p:nvGraphicFramePr>
        <p:xfrm>
          <a:off x="914400" y="2559050"/>
          <a:ext cx="10363200" cy="21996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454400">
                  <a:extLst>
                    <a:ext uri="{9D8B030D-6E8A-4147-A177-3AD203B41FA5}">
                      <a16:colId xmlns:a16="http://schemas.microsoft.com/office/drawing/2014/main" val="526990939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1899348602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41319943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Grandview Display"/>
                        </a:rPr>
                        <a:t>Tip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Mehanizam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Grandview Display"/>
                        </a:rPr>
                        <a:t>Kada se </a:t>
                      </a: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koristi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?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3943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Grandview Display"/>
                        </a:rPr>
                        <a:t>Semaphore Bulkhead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Koristi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 </a:t>
                      </a: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semafore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 za </a:t>
                      </a: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ograničavanje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 </a:t>
                      </a: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broja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 </a:t>
                      </a: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paralelnih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 </a:t>
                      </a: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poziva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Najčešći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 </a:t>
                      </a: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izbor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; </a:t>
                      </a: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minimalni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 "overhead"; </a:t>
                      </a: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radi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 u </a:t>
                      </a: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istoj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 </a:t>
                      </a: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niti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32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Grandview Display"/>
                        </a:rPr>
                        <a:t>Fixed Thread Pool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Koristi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 </a:t>
                      </a: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poseban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 Thread Pool za </a:t>
                      </a: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svaki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 </a:t>
                      </a: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servis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latin typeface="Grandview Display"/>
                        </a:rPr>
                        <a:t>Kada </a:t>
                      </a: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želiš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 </a:t>
                      </a: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potpunu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 </a:t>
                      </a: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izolaciju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 (</a:t>
                      </a: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ako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 </a:t>
                      </a: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servis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 </a:t>
                      </a: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može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 da </a:t>
                      </a: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zablokira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 nit </a:t>
                      </a:r>
                      <a:r>
                        <a:rPr lang="en-US" sz="1800" b="0" i="0" u="none" strike="noStrike" noProof="0" dirty="0" err="1">
                          <a:latin typeface="Grandview Display"/>
                        </a:rPr>
                        <a:t>trajno</a:t>
                      </a:r>
                      <a:r>
                        <a:rPr lang="en-US" sz="1800" b="0" i="0" u="none" strike="noStrike" noProof="0" dirty="0">
                          <a:latin typeface="Grandview Display"/>
                        </a:rPr>
                        <a:t>).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922228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29BE4-A414-BD34-82F3-74C7067E6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9AEBF-B51C-493C-A412-9FDB816688AA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BFF68-4573-30FB-F9FC-38F141D75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68EA9-FBA1-C53C-B402-D4D4098C4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363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97403-29DB-B1F6-F187-2999176A1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Glavni</a:t>
            </a:r>
            <a:r>
              <a:rPr lang="en-US" dirty="0"/>
              <a:t> </a:t>
            </a:r>
            <a:r>
              <a:rPr lang="en-US" dirty="0" err="1"/>
              <a:t>parametri</a:t>
            </a:r>
            <a:r>
              <a:rPr lang="en-US" dirty="0"/>
              <a:t> </a:t>
            </a:r>
            <a:r>
              <a:rPr lang="en-US" dirty="0">
                <a:ea typeface="+mj-lt"/>
                <a:cs typeface="+mj-lt"/>
              </a:rPr>
              <a:t>Semaphore Bulkhead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45FE2-9E24-EFCF-1090-0B204BE93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93395"/>
            <a:r>
              <a:rPr lang="en-US" b="1" dirty="0" err="1">
                <a:latin typeface="Consolas"/>
              </a:rPr>
              <a:t>maxConcurrentCalls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Maksimalan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broj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niti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smeju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istovremeno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izvršavaju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tvoju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metodu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npr</a:t>
            </a:r>
            <a:r>
              <a:rPr lang="en-US" dirty="0">
                <a:ea typeface="+mn-lt"/>
                <a:cs typeface="+mn-lt"/>
              </a:rPr>
              <a:t>. 5).</a:t>
            </a:r>
            <a:endParaRPr lang="en-US" dirty="0"/>
          </a:p>
          <a:p>
            <a:pPr marL="493395" lvl="1"/>
            <a:r>
              <a:rPr lang="en-US" sz="2000" b="1" err="1">
                <a:latin typeface="Consolas"/>
              </a:rPr>
              <a:t>maxWaitDuration</a:t>
            </a:r>
            <a:r>
              <a:rPr lang="en-US" sz="2000" dirty="0">
                <a:ea typeface="+mn-lt"/>
                <a:cs typeface="+mn-lt"/>
              </a:rPr>
              <a:t>: Koliko </a:t>
            </a:r>
            <a:r>
              <a:rPr lang="en-US" sz="2000" err="1">
                <a:ea typeface="+mn-lt"/>
                <a:cs typeface="+mn-lt"/>
              </a:rPr>
              <a:t>dugo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zahtev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sme</a:t>
            </a:r>
            <a:r>
              <a:rPr lang="en-US" sz="2000" dirty="0">
                <a:ea typeface="+mn-lt"/>
                <a:cs typeface="+mn-lt"/>
              </a:rPr>
              <a:t> da </a:t>
            </a:r>
            <a:r>
              <a:rPr lang="en-US" sz="2000" err="1">
                <a:ea typeface="+mn-lt"/>
                <a:cs typeface="+mn-lt"/>
              </a:rPr>
              <a:t>čeka</a:t>
            </a:r>
            <a:r>
              <a:rPr lang="en-US" sz="2000" dirty="0">
                <a:ea typeface="+mn-lt"/>
                <a:cs typeface="+mn-lt"/>
              </a:rPr>
              <a:t> u </a:t>
            </a:r>
            <a:r>
              <a:rPr lang="en-US" sz="2000" err="1">
                <a:ea typeface="+mn-lt"/>
                <a:cs typeface="+mn-lt"/>
              </a:rPr>
              <a:t>redu</a:t>
            </a:r>
            <a:r>
              <a:rPr lang="en-US" sz="2000" dirty="0">
                <a:ea typeface="+mn-lt"/>
                <a:cs typeface="+mn-lt"/>
              </a:rPr>
              <a:t> da </a:t>
            </a:r>
            <a:r>
              <a:rPr lang="en-US" sz="2000" err="1">
                <a:ea typeface="+mn-lt"/>
                <a:cs typeface="+mn-lt"/>
              </a:rPr>
              <a:t>dobije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slobodan</a:t>
            </a:r>
            <a:r>
              <a:rPr lang="en-US" sz="2000" dirty="0">
                <a:ea typeface="+mn-lt"/>
                <a:cs typeface="+mn-lt"/>
              </a:rPr>
              <a:t> "slot" u Bulkhead-u pre </a:t>
            </a:r>
            <a:r>
              <a:rPr lang="en-US" sz="2000" err="1">
                <a:ea typeface="+mn-lt"/>
                <a:cs typeface="+mn-lt"/>
              </a:rPr>
              <a:t>nego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što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bude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err="1">
                <a:ea typeface="+mn-lt"/>
                <a:cs typeface="+mn-lt"/>
              </a:rPr>
              <a:t>odbijen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  <a:p>
            <a:pPr marL="493395"/>
            <a:endParaRPr lang="en-US" sz="1600" dirty="0"/>
          </a:p>
          <a:p>
            <a:pPr marL="493395" lvl="1"/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C6ADA-0284-FB8C-2D06-C55E6AA8E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6C209-102C-40EA-B0DA-8CA82F367726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C2A15-4C41-8BF9-9BCB-4ADF34816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D92E3-8F6D-B9FA-86C7-554D3BC83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64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56F67-5844-E673-62B8-DFD0F6AA9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Glavni</a:t>
            </a:r>
            <a:r>
              <a:rPr lang="en-US" dirty="0"/>
              <a:t> </a:t>
            </a:r>
            <a:r>
              <a:rPr lang="en-US" dirty="0" err="1"/>
              <a:t>parametri</a:t>
            </a:r>
            <a:r>
              <a:rPr lang="en-US" dirty="0"/>
              <a:t> </a:t>
            </a:r>
            <a:r>
              <a:rPr lang="en-US" dirty="0">
                <a:ea typeface="+mj-lt"/>
                <a:cs typeface="+mj-lt"/>
              </a:rPr>
              <a:t>Fixed Thread Pool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4DF68-F273-2C99-04BF-453C529ED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93395"/>
            <a:r>
              <a:rPr lang="en-US" sz="1800" b="1" dirty="0" err="1">
                <a:latin typeface="Consolas"/>
              </a:rPr>
              <a:t>maxThreadPoolSize</a:t>
            </a:r>
            <a:r>
              <a:rPr lang="en-US" sz="1800" dirty="0"/>
              <a:t>: </a:t>
            </a:r>
            <a:r>
              <a:rPr lang="en-US" sz="1800" dirty="0" err="1"/>
              <a:t>Maksimalan</a:t>
            </a:r>
            <a:r>
              <a:rPr lang="en-US" sz="1800" dirty="0"/>
              <a:t> </a:t>
            </a:r>
            <a:r>
              <a:rPr lang="en-US" sz="1800" dirty="0" err="1"/>
              <a:t>broj</a:t>
            </a:r>
            <a:r>
              <a:rPr lang="en-US" sz="1800" dirty="0"/>
              <a:t> </a:t>
            </a:r>
            <a:r>
              <a:rPr lang="en-US" sz="1800" dirty="0" err="1"/>
              <a:t>niti</a:t>
            </a:r>
            <a:r>
              <a:rPr lang="en-US" sz="1800" dirty="0"/>
              <a:t> u pool-u. Ovo je threshold za </a:t>
            </a:r>
            <a:r>
              <a:rPr lang="en-US" sz="1800" dirty="0" err="1"/>
              <a:t>paralelnu</a:t>
            </a:r>
            <a:r>
              <a:rPr lang="en-US" sz="1800" dirty="0"/>
              <a:t> </a:t>
            </a:r>
            <a:r>
              <a:rPr lang="en-US" sz="1800" dirty="0" err="1"/>
              <a:t>obradu</a:t>
            </a:r>
            <a:r>
              <a:rPr lang="en-US" sz="1800" dirty="0"/>
              <a:t>. (</a:t>
            </a:r>
            <a:r>
              <a:rPr lang="en-US" sz="1800" dirty="0" err="1"/>
              <a:t>npr</a:t>
            </a:r>
            <a:r>
              <a:rPr lang="en-US" sz="1800" dirty="0"/>
              <a:t>. 10).</a:t>
            </a:r>
          </a:p>
          <a:p>
            <a:pPr marL="493395" lvl="1"/>
            <a:r>
              <a:rPr lang="en-US" b="1" err="1">
                <a:latin typeface="Consolas"/>
              </a:rPr>
              <a:t>coreThreadPoolSize</a:t>
            </a:r>
            <a:r>
              <a:rPr lang="en-US" dirty="0"/>
              <a:t>: </a:t>
            </a:r>
            <a:r>
              <a:rPr lang="en-US" err="1"/>
              <a:t>Broj</a:t>
            </a:r>
            <a:r>
              <a:rPr lang="en-US" dirty="0"/>
              <a:t> </a:t>
            </a:r>
            <a:r>
              <a:rPr lang="en-US" err="1"/>
              <a:t>niti</a:t>
            </a:r>
            <a:r>
              <a:rPr lang="en-US" dirty="0"/>
              <a:t> koji </a:t>
            </a:r>
            <a:r>
              <a:rPr lang="en-US" err="1"/>
              <a:t>uvek</a:t>
            </a:r>
            <a:r>
              <a:rPr lang="en-US" dirty="0"/>
              <a:t> </a:t>
            </a:r>
            <a:r>
              <a:rPr lang="en-US" err="1"/>
              <a:t>ostaje</a:t>
            </a:r>
            <a:r>
              <a:rPr lang="en-US" dirty="0"/>
              <a:t> </a:t>
            </a:r>
            <a:r>
              <a:rPr lang="en-US" err="1"/>
              <a:t>aktivan</a:t>
            </a:r>
            <a:r>
              <a:rPr lang="en-US" dirty="0"/>
              <a:t> u </a:t>
            </a:r>
            <a:r>
              <a:rPr lang="en-US" err="1"/>
              <a:t>memoriji</a:t>
            </a:r>
            <a:r>
              <a:rPr lang="en-US" dirty="0"/>
              <a:t>, </a:t>
            </a:r>
            <a:r>
              <a:rPr lang="en-US" err="1"/>
              <a:t>čak</a:t>
            </a:r>
            <a:r>
              <a:rPr lang="en-US" dirty="0"/>
              <a:t> </a:t>
            </a:r>
            <a:r>
              <a:rPr lang="en-US" err="1"/>
              <a:t>i</a:t>
            </a:r>
            <a:r>
              <a:rPr lang="en-US" dirty="0"/>
              <a:t> </a:t>
            </a:r>
            <a:r>
              <a:rPr lang="en-US" err="1"/>
              <a:t>ako</a:t>
            </a:r>
            <a:r>
              <a:rPr lang="en-US" dirty="0"/>
              <a:t> </a:t>
            </a:r>
            <a:r>
              <a:rPr lang="en-US" err="1"/>
              <a:t>nema</a:t>
            </a:r>
            <a:r>
              <a:rPr lang="en-US" dirty="0"/>
              <a:t> </a:t>
            </a:r>
            <a:r>
              <a:rPr lang="en-US" err="1"/>
              <a:t>posla</a:t>
            </a:r>
            <a:r>
              <a:rPr lang="en-US" dirty="0"/>
              <a:t> (</a:t>
            </a:r>
            <a:r>
              <a:rPr lang="en-US" err="1"/>
              <a:t>npr</a:t>
            </a:r>
            <a:r>
              <a:rPr lang="en-US" dirty="0"/>
              <a:t>. 5).</a:t>
            </a:r>
          </a:p>
          <a:p>
            <a:pPr marL="493395" lvl="1"/>
            <a:r>
              <a:rPr lang="en-US" b="1" dirty="0" err="1">
                <a:latin typeface="Consolas"/>
              </a:rPr>
              <a:t>queueCapacity</a:t>
            </a:r>
            <a:r>
              <a:rPr lang="en-US" dirty="0"/>
              <a:t>: </a:t>
            </a:r>
            <a:r>
              <a:rPr lang="en-US" dirty="0" err="1"/>
              <a:t>Kapacitet</a:t>
            </a:r>
            <a:r>
              <a:rPr lang="en-US" dirty="0"/>
              <a:t> </a:t>
            </a:r>
            <a:r>
              <a:rPr lang="en-US" dirty="0" err="1"/>
              <a:t>reda</a:t>
            </a:r>
            <a:r>
              <a:rPr lang="en-US" dirty="0"/>
              <a:t> </a:t>
            </a:r>
            <a:r>
              <a:rPr lang="en-US" dirty="0" err="1"/>
              <a:t>čekanja</a:t>
            </a:r>
            <a:r>
              <a:rPr lang="en-US" dirty="0"/>
              <a:t>. Ako </a:t>
            </a:r>
            <a:r>
              <a:rPr lang="en-US" dirty="0" err="1"/>
              <a:t>su</a:t>
            </a:r>
            <a:r>
              <a:rPr lang="en-US" dirty="0"/>
              <a:t> </a:t>
            </a:r>
            <a:r>
              <a:rPr lang="en-US" dirty="0" err="1"/>
              <a:t>sve</a:t>
            </a:r>
            <a:r>
              <a:rPr lang="en-US" dirty="0"/>
              <a:t> </a:t>
            </a:r>
            <a:r>
              <a:rPr lang="en-US" dirty="0" err="1"/>
              <a:t>niti</a:t>
            </a:r>
            <a:r>
              <a:rPr lang="en-US" dirty="0"/>
              <a:t> </a:t>
            </a:r>
            <a:r>
              <a:rPr lang="en-US" dirty="0" err="1"/>
              <a:t>zauzete</a:t>
            </a:r>
            <a:r>
              <a:rPr lang="en-US" dirty="0"/>
              <a:t>, </a:t>
            </a:r>
            <a:r>
              <a:rPr lang="en-US" dirty="0" err="1"/>
              <a:t>zahtevi</a:t>
            </a:r>
            <a:r>
              <a:rPr lang="en-US" dirty="0"/>
              <a:t> </a:t>
            </a:r>
            <a:r>
              <a:rPr lang="en-US" dirty="0" err="1"/>
              <a:t>staju</a:t>
            </a:r>
            <a:r>
              <a:rPr lang="en-US" dirty="0"/>
              <a:t> u red. Ako se </a:t>
            </a:r>
            <a:r>
              <a:rPr lang="en-US" dirty="0" err="1"/>
              <a:t>i</a:t>
            </a:r>
            <a:r>
              <a:rPr lang="en-US" dirty="0"/>
              <a:t> red </a:t>
            </a:r>
            <a:r>
              <a:rPr lang="en-US" dirty="0" err="1"/>
              <a:t>popuni</a:t>
            </a:r>
            <a:r>
              <a:rPr lang="en-US" dirty="0"/>
              <a:t>, </a:t>
            </a:r>
            <a:r>
              <a:rPr lang="en-US" dirty="0" err="1"/>
              <a:t>zahtev</a:t>
            </a:r>
            <a:r>
              <a:rPr lang="en-US" dirty="0"/>
              <a:t> </a:t>
            </a:r>
            <a:r>
              <a:rPr lang="en-US" dirty="0" err="1"/>
              <a:t>biva</a:t>
            </a:r>
            <a:r>
              <a:rPr lang="en-US" dirty="0"/>
              <a:t> </a:t>
            </a:r>
            <a:r>
              <a:rPr lang="en-US" dirty="0" err="1"/>
              <a:t>odbijen</a:t>
            </a:r>
            <a:r>
              <a:rPr lang="en-US" dirty="0"/>
              <a:t> (</a:t>
            </a:r>
            <a:r>
              <a:rPr lang="en-US" dirty="0" err="1">
                <a:latin typeface="Consolas"/>
              </a:rPr>
              <a:t>BulkheadFullException</a:t>
            </a:r>
            <a:r>
              <a:rPr lang="en-US" dirty="0"/>
              <a:t>). (</a:t>
            </a:r>
            <a:r>
              <a:rPr lang="en-US" dirty="0" err="1"/>
              <a:t>npr</a:t>
            </a:r>
            <a:r>
              <a:rPr lang="en-US" dirty="0"/>
              <a:t>. 20).</a:t>
            </a:r>
          </a:p>
          <a:p>
            <a:pPr marL="493395" lvl="1"/>
            <a:r>
              <a:rPr lang="en-US" b="1" err="1">
                <a:latin typeface="Consolas"/>
              </a:rPr>
              <a:t>keepAliveDuration</a:t>
            </a:r>
            <a:r>
              <a:rPr lang="en-US" dirty="0"/>
              <a:t>: Vreme </a:t>
            </a:r>
            <a:r>
              <a:rPr lang="en-US" err="1"/>
              <a:t>koje</a:t>
            </a:r>
            <a:r>
              <a:rPr lang="en-US" dirty="0"/>
              <a:t> </a:t>
            </a:r>
            <a:r>
              <a:rPr lang="en-US" err="1"/>
              <a:t>dodatne</a:t>
            </a:r>
            <a:r>
              <a:rPr lang="en-US" dirty="0"/>
              <a:t> </a:t>
            </a:r>
            <a:r>
              <a:rPr lang="en-US" err="1"/>
              <a:t>niti</a:t>
            </a:r>
            <a:r>
              <a:rPr lang="en-US" dirty="0"/>
              <a:t> (one </a:t>
            </a:r>
            <a:r>
              <a:rPr lang="en-US" err="1"/>
              <a:t>iznad</a:t>
            </a:r>
            <a:r>
              <a:rPr lang="en-US" dirty="0"/>
              <a:t> </a:t>
            </a:r>
            <a:r>
              <a:rPr lang="en-US" i="1" dirty="0"/>
              <a:t>core</a:t>
            </a:r>
            <a:r>
              <a:rPr lang="en-US" dirty="0"/>
              <a:t> </a:t>
            </a:r>
            <a:r>
              <a:rPr lang="en-US" err="1"/>
              <a:t>veličine</a:t>
            </a:r>
            <a:r>
              <a:rPr lang="en-US" dirty="0"/>
              <a:t>) </a:t>
            </a:r>
            <a:r>
              <a:rPr lang="en-US" err="1"/>
              <a:t>ostaju</a:t>
            </a:r>
            <a:r>
              <a:rPr lang="en-US" dirty="0"/>
              <a:t> </a:t>
            </a:r>
            <a:r>
              <a:rPr lang="en-US" err="1"/>
              <a:t>aktivne</a:t>
            </a:r>
            <a:r>
              <a:rPr lang="en-US" dirty="0"/>
              <a:t> </a:t>
            </a:r>
            <a:r>
              <a:rPr lang="en-US" err="1"/>
              <a:t>dok</a:t>
            </a:r>
            <a:r>
              <a:rPr lang="en-US" dirty="0"/>
              <a:t> </a:t>
            </a:r>
            <a:r>
              <a:rPr lang="en-US" err="1"/>
              <a:t>čekaju</a:t>
            </a:r>
            <a:r>
              <a:rPr lang="en-US" dirty="0"/>
              <a:t> novi </a:t>
            </a:r>
            <a:r>
              <a:rPr lang="en-US" err="1"/>
              <a:t>posao</a:t>
            </a:r>
            <a:r>
              <a:rPr lang="en-US" dirty="0"/>
              <a:t> pre </a:t>
            </a:r>
            <a:r>
              <a:rPr lang="en-US" err="1"/>
              <a:t>nego</a:t>
            </a:r>
            <a:r>
              <a:rPr lang="en-US" dirty="0"/>
              <a:t> </a:t>
            </a:r>
            <a:r>
              <a:rPr lang="en-US" err="1"/>
              <a:t>što</a:t>
            </a:r>
            <a:r>
              <a:rPr lang="en-US" dirty="0"/>
              <a:t> </a:t>
            </a:r>
            <a:r>
              <a:rPr lang="en-US" err="1"/>
              <a:t>budu</a:t>
            </a:r>
            <a:r>
              <a:rPr lang="en-US" dirty="0"/>
              <a:t> </a:t>
            </a:r>
            <a:r>
              <a:rPr lang="en-US" err="1"/>
              <a:t>ugašene</a:t>
            </a:r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8F9DE-5E75-D773-0579-EB1A58546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4AB63-D4DA-4794-B41F-F25D3E5CF994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DAAE7-941D-EE69-0868-20972F78B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F57FF-DE61-801E-C56D-2DA1FA6BC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377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36DEC-58DA-E0AA-AA14-A971B83B4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Retry (</a:t>
            </a:r>
            <a:r>
              <a:rPr lang="en-US" dirty="0" err="1">
                <a:ea typeface="+mj-lt"/>
                <a:cs typeface="+mj-lt"/>
              </a:rPr>
              <a:t>Ponovni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pokušaj</a:t>
            </a:r>
            <a:r>
              <a:rPr lang="en-US" dirty="0">
                <a:ea typeface="+mj-lt"/>
                <a:cs typeface="+mj-lt"/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46BE1-06C2-DFC4-5F7C-E4645031A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Automatski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ponavlja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neuspešnu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operaciju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određeni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broj</a:t>
            </a:r>
            <a:r>
              <a:rPr lang="en-US" dirty="0">
                <a:ea typeface="+mn-lt"/>
                <a:cs typeface="+mn-lt"/>
              </a:rPr>
              <a:t> puta. Korisno za </a:t>
            </a:r>
            <a:r>
              <a:rPr lang="en-US" dirty="0" err="1">
                <a:ea typeface="+mn-lt"/>
                <a:cs typeface="+mn-lt"/>
              </a:rPr>
              <a:t>privremene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greške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npr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trenutni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prekid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mreže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CBEA7-4F11-A1C1-7CED-6747B9919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BCC80-2A0D-4A4F-8A6B-84D7E93C871C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D8B61-E2EF-3EF0-2CA1-585A5EE2B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31AEA-6D14-42D7-42F1-382107E7D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829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C6A08-3FBF-7529-21F2-2883FB8BF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Strategije</a:t>
            </a:r>
            <a:r>
              <a:rPr lang="en-US" dirty="0"/>
              <a:t> </a:t>
            </a:r>
            <a:r>
              <a:rPr lang="en-US" dirty="0" err="1"/>
              <a:t>čekanja</a:t>
            </a:r>
            <a:r>
              <a:rPr lang="en-US" dirty="0"/>
              <a:t> (Backoff)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9B00E-279E-84A0-C49E-446EAD679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Fixed Interval: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Uvek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čeka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isto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npr</a:t>
            </a:r>
            <a:r>
              <a:rPr lang="en-US" dirty="0">
                <a:ea typeface="+mn-lt"/>
                <a:cs typeface="+mn-lt"/>
              </a:rPr>
              <a:t>. 500ms).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Exponential Backoff: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Svaki</a:t>
            </a:r>
            <a:r>
              <a:rPr lang="en-US" dirty="0">
                <a:ea typeface="+mn-lt"/>
                <a:cs typeface="+mn-lt"/>
              </a:rPr>
              <a:t> put </a:t>
            </a:r>
            <a:r>
              <a:rPr lang="en-US" dirty="0" err="1">
                <a:ea typeface="+mn-lt"/>
                <a:cs typeface="+mn-lt"/>
              </a:rPr>
              <a:t>čeka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sve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duže</a:t>
            </a:r>
            <a:r>
              <a:rPr lang="en-US" dirty="0">
                <a:ea typeface="+mn-lt"/>
                <a:cs typeface="+mn-lt"/>
              </a:rPr>
              <a:t> (500ms -&gt; 1s -&gt; 2s...). Ovo </a:t>
            </a:r>
            <a:r>
              <a:rPr lang="en-US" dirty="0" err="1">
                <a:ea typeface="+mn-lt"/>
                <a:cs typeface="+mn-lt"/>
              </a:rPr>
              <a:t>daje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servisu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vreme</a:t>
            </a:r>
            <a:r>
              <a:rPr lang="en-US" dirty="0">
                <a:ea typeface="+mn-lt"/>
                <a:cs typeface="+mn-lt"/>
              </a:rPr>
              <a:t> za </a:t>
            </a:r>
            <a:r>
              <a:rPr lang="en-US" dirty="0" err="1">
                <a:ea typeface="+mn-lt"/>
                <a:cs typeface="+mn-lt"/>
              </a:rPr>
              <a:t>oporavak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Jitter: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Dodaje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nasumičnost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vremenu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čekanja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kako</a:t>
            </a:r>
            <a:r>
              <a:rPr lang="en-US" dirty="0">
                <a:ea typeface="+mn-lt"/>
                <a:cs typeface="+mn-lt"/>
              </a:rPr>
              <a:t> bi se </a:t>
            </a:r>
            <a:r>
              <a:rPr lang="en-US" dirty="0" err="1">
                <a:ea typeface="+mn-lt"/>
                <a:cs typeface="+mn-lt"/>
              </a:rPr>
              <a:t>izbeglo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svi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klijenti</a:t>
            </a:r>
            <a:r>
              <a:rPr lang="en-US" dirty="0">
                <a:ea typeface="+mn-lt"/>
                <a:cs typeface="+mn-lt"/>
              </a:rPr>
              <a:t> u </a:t>
            </a:r>
            <a:r>
              <a:rPr lang="en-US" dirty="0" err="1">
                <a:ea typeface="+mn-lt"/>
                <a:cs typeface="+mn-lt"/>
              </a:rPr>
              <a:t>istom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trenutku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ponovo</a:t>
            </a:r>
            <a:r>
              <a:rPr lang="en-US" dirty="0">
                <a:ea typeface="+mn-lt"/>
                <a:cs typeface="+mn-lt"/>
              </a:rPr>
              <a:t> "</a:t>
            </a:r>
            <a:r>
              <a:rPr lang="en-US" dirty="0" err="1">
                <a:ea typeface="+mn-lt"/>
                <a:cs typeface="+mn-lt"/>
              </a:rPr>
              <a:t>napadnu</a:t>
            </a:r>
            <a:r>
              <a:rPr lang="en-US" dirty="0">
                <a:ea typeface="+mn-lt"/>
                <a:cs typeface="+mn-lt"/>
              </a:rPr>
              <a:t>" server (</a:t>
            </a:r>
            <a:r>
              <a:rPr lang="en-US" dirty="0" err="1">
                <a:ea typeface="+mn-lt"/>
                <a:cs typeface="+mn-lt"/>
              </a:rPr>
              <a:t>tzv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i="1" dirty="0">
                <a:ea typeface="+mn-lt"/>
                <a:cs typeface="+mn-lt"/>
              </a:rPr>
              <a:t>Thundering Herd</a:t>
            </a:r>
            <a:r>
              <a:rPr lang="en-US" dirty="0">
                <a:ea typeface="+mn-lt"/>
                <a:cs typeface="+mn-lt"/>
              </a:rPr>
              <a:t> problem).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CD039-CFFF-2881-EEAD-F16AB8BA8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B5C147-8E49-4877-A321-84D84C318709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26143-48EC-6978-6415-6457667AD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0E2A4-6E03-8B4A-0554-797A6730B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713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897BD-397F-FB77-2F18-7D690CCD6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Glavni</a:t>
            </a:r>
            <a:r>
              <a:rPr lang="en-US" dirty="0"/>
              <a:t> </a:t>
            </a:r>
            <a:r>
              <a:rPr lang="en-US" dirty="0" err="1"/>
              <a:t>parametri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CFCAC-0791-7CC2-3E04-E1173CB01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latin typeface="Consolas"/>
              </a:rPr>
              <a:t>maxAttempts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Ukupan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broj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pokušaja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uključujući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prvi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inicijalni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poziv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r>
              <a:rPr lang="en-US" b="1" dirty="0" err="1">
                <a:latin typeface="Consolas"/>
              </a:rPr>
              <a:t>waitDuration</a:t>
            </a:r>
            <a:r>
              <a:rPr lang="en-US" dirty="0">
                <a:ea typeface="+mn-lt"/>
                <a:cs typeface="+mn-lt"/>
              </a:rPr>
              <a:t>: Vreme </a:t>
            </a:r>
            <a:r>
              <a:rPr lang="en-US" dirty="0" err="1">
                <a:ea typeface="+mn-lt"/>
                <a:cs typeface="+mn-lt"/>
              </a:rPr>
              <a:t>čekanja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između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dva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pokušaja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 err="1">
                <a:latin typeface="Consolas"/>
              </a:rPr>
              <a:t>retryExceptions</a:t>
            </a:r>
            <a:r>
              <a:rPr lang="en-US" dirty="0">
                <a:ea typeface="+mn-lt"/>
                <a:cs typeface="+mn-lt"/>
              </a:rPr>
              <a:t>: Lista </a:t>
            </a:r>
            <a:r>
              <a:rPr lang="en-US" dirty="0" err="1">
                <a:ea typeface="+mn-lt"/>
                <a:cs typeface="+mn-lt"/>
              </a:rPr>
              <a:t>specifičnih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grešaka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treba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reagovati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npr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latin typeface="Consolas"/>
              </a:rPr>
              <a:t>IOException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ili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latin typeface="Consolas"/>
              </a:rPr>
              <a:t>TimeoutException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r>
              <a:rPr lang="en-US" b="1" dirty="0" err="1">
                <a:latin typeface="Consolas"/>
              </a:rPr>
              <a:t>ignoreExceptions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dirty="0" err="1">
                <a:ea typeface="+mn-lt"/>
                <a:cs typeface="+mn-lt"/>
              </a:rPr>
              <a:t>Greške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nema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smisla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ponavljati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npr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>
                <a:latin typeface="Consolas"/>
              </a:rPr>
              <a:t>401 Unauthorized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ili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>
                <a:latin typeface="Consolas"/>
              </a:rPr>
              <a:t>404 Not Found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BD2B7-F970-BFAA-4827-2B656038A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E5132-546B-4A82-8568-2BAF1F123203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C1050-8658-95C3-42C8-B08113069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974C6-67E0-F987-650E-6A5C3E44F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568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EFE1-8AE5-38D9-5A15-E6BFA1DFA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⚠️ </a:t>
            </a:r>
            <a:r>
              <a:rPr lang="en-US" dirty="0" err="1">
                <a:ea typeface="+mj-lt"/>
                <a:cs typeface="+mj-lt"/>
              </a:rPr>
              <a:t>Idempotentnost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CC7AB-C8A1-3E81-0832-5B746C23A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Pre </a:t>
            </a:r>
            <a:r>
              <a:rPr lang="en-US" dirty="0" err="1">
                <a:ea typeface="+mn-lt"/>
                <a:cs typeface="+mn-lt"/>
              </a:rPr>
              <a:t>nego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što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primenimo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Retry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moramo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biti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sigurni</a:t>
            </a:r>
            <a:r>
              <a:rPr lang="en-US" dirty="0">
                <a:ea typeface="+mn-lt"/>
                <a:cs typeface="+mn-lt"/>
              </a:rPr>
              <a:t> da je </a:t>
            </a:r>
            <a:r>
              <a:rPr lang="en-US" dirty="0" err="1">
                <a:ea typeface="+mn-lt"/>
                <a:cs typeface="+mn-lt"/>
              </a:rPr>
              <a:t>operacija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idempotentna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Primer:</a:t>
            </a:r>
            <a:r>
              <a:rPr lang="en-US" dirty="0">
                <a:ea typeface="+mn-lt"/>
                <a:cs typeface="+mn-lt"/>
              </a:rPr>
              <a:t> Ako </a:t>
            </a:r>
            <a:r>
              <a:rPr lang="en-US" dirty="0" err="1">
                <a:ea typeface="+mn-lt"/>
                <a:cs typeface="+mn-lt"/>
              </a:rPr>
              <a:t>ponovimo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naplatu</a:t>
            </a:r>
            <a:r>
              <a:rPr lang="en-US" dirty="0">
                <a:ea typeface="+mn-lt"/>
                <a:cs typeface="+mn-lt"/>
              </a:rPr>
              <a:t> od 100 EUR, </a:t>
            </a:r>
            <a:r>
              <a:rPr lang="en-US" dirty="0" err="1">
                <a:ea typeface="+mn-lt"/>
                <a:cs typeface="+mn-lt"/>
              </a:rPr>
              <a:t>moramo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biti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sigurno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korisniku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neće</a:t>
            </a:r>
            <a:r>
              <a:rPr lang="en-US" dirty="0">
                <a:ea typeface="+mn-lt"/>
                <a:cs typeface="+mn-lt"/>
              </a:rPr>
              <a:t> da se </a:t>
            </a:r>
            <a:r>
              <a:rPr lang="en-US" dirty="0" err="1">
                <a:ea typeface="+mn-lt"/>
                <a:cs typeface="+mn-lt"/>
              </a:rPr>
              <a:t>naplati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novac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dva</a:t>
            </a:r>
            <a:r>
              <a:rPr lang="en-US" dirty="0">
                <a:ea typeface="+mn-lt"/>
                <a:cs typeface="+mn-lt"/>
              </a:rPr>
              <a:t> puta </a:t>
            </a:r>
            <a:r>
              <a:rPr lang="en-US" dirty="0" err="1">
                <a:ea typeface="+mn-lt"/>
                <a:cs typeface="+mn-lt"/>
              </a:rPr>
              <a:t>ako</a:t>
            </a:r>
            <a:r>
              <a:rPr lang="en-US" dirty="0">
                <a:ea typeface="+mn-lt"/>
                <a:cs typeface="+mn-lt"/>
              </a:rPr>
              <a:t> je </a:t>
            </a:r>
            <a:r>
              <a:rPr lang="en-US" dirty="0" err="1">
                <a:ea typeface="+mn-lt"/>
                <a:cs typeface="+mn-lt"/>
              </a:rPr>
              <a:t>prvi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zahtev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zapravo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prošao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ali</a:t>
            </a:r>
            <a:r>
              <a:rPr lang="en-US" dirty="0">
                <a:ea typeface="+mn-lt"/>
                <a:cs typeface="+mn-lt"/>
              </a:rPr>
              <a:t> je </a:t>
            </a:r>
            <a:r>
              <a:rPr lang="en-US" dirty="0" err="1">
                <a:ea typeface="+mn-lt"/>
                <a:cs typeface="+mn-lt"/>
              </a:rPr>
              <a:t>samo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odgovor</a:t>
            </a:r>
            <a:r>
              <a:rPr lang="en-US" dirty="0">
                <a:ea typeface="+mn-lt"/>
                <a:cs typeface="+mn-lt"/>
              </a:rPr>
              <a:t> "</a:t>
            </a:r>
            <a:r>
              <a:rPr lang="en-US" dirty="0" err="1">
                <a:ea typeface="+mn-lt"/>
                <a:cs typeface="+mn-lt"/>
              </a:rPr>
              <a:t>pukao</a:t>
            </a:r>
            <a:r>
              <a:rPr lang="en-US" dirty="0">
                <a:ea typeface="+mn-lt"/>
                <a:cs typeface="+mn-lt"/>
              </a:rPr>
              <a:t>"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mreži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F5446-500C-D3A2-42A0-9CE61D777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FD3BB-4031-4982-9F9B-2803A1B77BEF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1D6EC-40B1-6231-A4A5-8C48FEB79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02788-D287-B27F-7B4C-1154F9D31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687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B86BC-398B-484E-CD55-B1E7E4226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 Limiter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C3FC8-7CD9-F79B-D33B-40DEAA84D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ea typeface="+mn-lt"/>
                <a:cs typeface="+mn-lt"/>
              </a:rPr>
              <a:t>Mehanizam</a:t>
            </a:r>
            <a:r>
              <a:rPr lang="en-US" dirty="0">
                <a:ea typeface="+mn-lt"/>
                <a:cs typeface="+mn-lt"/>
              </a:rPr>
              <a:t> koji </a:t>
            </a:r>
            <a:r>
              <a:rPr lang="en-US" dirty="0" err="1">
                <a:ea typeface="+mn-lt"/>
                <a:cs typeface="+mn-lt"/>
              </a:rPr>
              <a:t>ograničava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broj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zahteva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klijent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može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poslati</a:t>
            </a:r>
            <a:r>
              <a:rPr lang="en-US" dirty="0">
                <a:ea typeface="+mn-lt"/>
                <a:cs typeface="+mn-lt"/>
              </a:rPr>
              <a:t> u </a:t>
            </a:r>
            <a:r>
              <a:rPr lang="en-US" dirty="0" err="1">
                <a:ea typeface="+mn-lt"/>
                <a:cs typeface="+mn-lt"/>
              </a:rPr>
              <a:t>određenom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vremenskom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prozoru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E74CA-2212-59E1-20D1-91CA69F1C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FD97E4-379F-4FEB-823F-92E0DBBDA487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C2ADA-BE56-DDC6-0EE7-727C59859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CBA03-BFA1-1F03-B8F4-D36A09593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045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72014-A2DE-EFC0-4DA5-5399E3D92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Glavni</a:t>
            </a:r>
            <a:r>
              <a:rPr lang="en-US" dirty="0"/>
              <a:t> </a:t>
            </a:r>
            <a:r>
              <a:rPr lang="en-US" dirty="0" err="1"/>
              <a:t>parametri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1388F-40AE-D912-DCCA-1ED7A7E7D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err="1">
                <a:latin typeface="Consolas"/>
              </a:rPr>
              <a:t>limitForPeriod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err="1">
                <a:ea typeface="+mn-lt"/>
                <a:cs typeface="+mn-lt"/>
              </a:rPr>
              <a:t>Broj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dozvoljenih</a:t>
            </a:r>
            <a:r>
              <a:rPr lang="en-US" dirty="0">
                <a:ea typeface="+mn-lt"/>
                <a:cs typeface="+mn-lt"/>
              </a:rPr>
              <a:t> "propusnica</a:t>
            </a:r>
            <a:r>
              <a:rPr lang="en-US">
                <a:ea typeface="+mn-lt"/>
                <a:cs typeface="+mn-lt"/>
              </a:rPr>
              <a:t>" (permissions).</a:t>
            </a:r>
            <a:endParaRPr lang="en-US"/>
          </a:p>
          <a:p>
            <a:r>
              <a:rPr lang="en-US" b="1" err="1">
                <a:latin typeface="Consolas"/>
              </a:rPr>
              <a:t>limitRefreshPeriod</a:t>
            </a:r>
            <a:r>
              <a:rPr lang="en-US">
                <a:ea typeface="+mn-lt"/>
                <a:cs typeface="+mn-lt"/>
              </a:rPr>
              <a:t>: Vreme </a:t>
            </a:r>
            <a:r>
              <a:rPr lang="en-US" err="1">
                <a:ea typeface="+mn-lt"/>
                <a:cs typeface="+mn-lt"/>
              </a:rPr>
              <a:t>nakon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kojeg</a:t>
            </a:r>
            <a:r>
              <a:rPr lang="en-US">
                <a:ea typeface="+mn-lt"/>
                <a:cs typeface="+mn-lt"/>
              </a:rPr>
              <a:t> se </a:t>
            </a:r>
            <a:r>
              <a:rPr lang="en-US" err="1">
                <a:ea typeface="+mn-lt"/>
                <a:cs typeface="+mn-lt"/>
              </a:rPr>
              <a:t>te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propusnice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obnavljaju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 b="1" err="1">
                <a:latin typeface="Consolas"/>
              </a:rPr>
              <a:t>timeoutDuration</a:t>
            </a:r>
            <a:r>
              <a:rPr lang="en-US">
                <a:ea typeface="+mn-lt"/>
                <a:cs typeface="+mn-lt"/>
              </a:rPr>
              <a:t>: Vreme </a:t>
            </a:r>
            <a:r>
              <a:rPr lang="en-US" err="1">
                <a:ea typeface="+mn-lt"/>
                <a:cs typeface="+mn-lt"/>
              </a:rPr>
              <a:t>koliko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zahtev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sme</a:t>
            </a:r>
            <a:r>
              <a:rPr lang="en-US">
                <a:ea typeface="+mn-lt"/>
                <a:cs typeface="+mn-lt"/>
              </a:rPr>
              <a:t> da "</a:t>
            </a:r>
            <a:r>
              <a:rPr lang="en-US" err="1">
                <a:ea typeface="+mn-lt"/>
                <a:cs typeface="+mn-lt"/>
              </a:rPr>
              <a:t>stoji</a:t>
            </a:r>
            <a:r>
              <a:rPr lang="en-US">
                <a:ea typeface="+mn-lt"/>
                <a:cs typeface="+mn-lt"/>
              </a:rPr>
              <a:t> u </a:t>
            </a:r>
            <a:r>
              <a:rPr lang="en-US" err="1">
                <a:ea typeface="+mn-lt"/>
                <a:cs typeface="+mn-lt"/>
              </a:rPr>
              <a:t>redu</a:t>
            </a:r>
            <a:r>
              <a:rPr lang="en-US">
                <a:ea typeface="+mn-lt"/>
                <a:cs typeface="+mn-lt"/>
              </a:rPr>
              <a:t>" </a:t>
            </a:r>
            <a:r>
              <a:rPr lang="en-US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čeka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propusnicu</a:t>
            </a:r>
            <a:r>
              <a:rPr lang="en-US">
                <a:ea typeface="+mn-lt"/>
                <a:cs typeface="+mn-lt"/>
              </a:rPr>
              <a:t> pre </a:t>
            </a:r>
            <a:r>
              <a:rPr lang="en-US" err="1">
                <a:ea typeface="+mn-lt"/>
                <a:cs typeface="+mn-lt"/>
              </a:rPr>
              <a:t>nego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što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bude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odbijen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BCD7A-C057-24E3-555E-910384897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A7FC1-C15F-4641-A30F-4E75B0C87B34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F25A7-78F9-FF16-8A73-4BF221677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39839-8BD0-5BB6-B183-5611C689E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14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250D9-B937-1272-108B-821A5406A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Cheat Sheet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38D40E7A-108D-26A2-F2EF-81D6BF32A6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8259351"/>
              </p:ext>
            </p:extLst>
          </p:nvPr>
        </p:nvGraphicFramePr>
        <p:xfrm>
          <a:off x="914400" y="2559050"/>
          <a:ext cx="10363200" cy="29311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454400">
                  <a:extLst>
                    <a:ext uri="{9D8B030D-6E8A-4147-A177-3AD203B41FA5}">
                      <a16:colId xmlns:a16="http://schemas.microsoft.com/office/drawing/2014/main" val="480724421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3875525352"/>
                    </a:ext>
                  </a:extLst>
                </a:gridCol>
                <a:gridCol w="3454400">
                  <a:extLst>
                    <a:ext uri="{9D8B030D-6E8A-4147-A177-3AD203B41FA5}">
                      <a16:colId xmlns:a16="http://schemas.microsoft.com/office/drawing/2014/main" val="16909274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 err="1"/>
                        <a:t>Mehanizam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 dirty="0"/>
                        <a:t>Problem koji </a:t>
                      </a:r>
                      <a:r>
                        <a:rPr lang="en-US" sz="1800" u="none" strike="noStrike" noProof="0" err="1"/>
                        <a:t>rešava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 err="1"/>
                        <a:t>Strategija</a:t>
                      </a:r>
                      <a:endParaRPr lang="en-US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569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 dirty="0"/>
                        <a:t>Circuit Breaker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 dirty="0" err="1"/>
                        <a:t>Sprečava</a:t>
                      </a:r>
                      <a:r>
                        <a:rPr lang="en-US" sz="1800" u="none" strike="noStrike" noProof="0" dirty="0"/>
                        <a:t> </a:t>
                      </a:r>
                      <a:r>
                        <a:rPr lang="en-US" sz="1800" u="none" strike="noStrike" noProof="0" dirty="0" err="1"/>
                        <a:t>zagušenje</a:t>
                      </a:r>
                      <a:r>
                        <a:rPr lang="en-US" sz="1800" u="none" strike="noStrike" noProof="0" dirty="0"/>
                        <a:t> </a:t>
                      </a:r>
                      <a:r>
                        <a:rPr lang="en-US" sz="1800" u="none" strike="noStrike" noProof="0" dirty="0" err="1"/>
                        <a:t>kod</a:t>
                      </a:r>
                      <a:r>
                        <a:rPr lang="en-US" sz="1800" u="none" strike="noStrike" noProof="0" dirty="0"/>
                        <a:t> </a:t>
                      </a:r>
                      <a:r>
                        <a:rPr lang="en-US" sz="1800" u="none" strike="noStrike" noProof="0" dirty="0" err="1"/>
                        <a:t>sporih</a:t>
                      </a:r>
                      <a:r>
                        <a:rPr lang="en-US" sz="1800" u="none" strike="noStrike" noProof="0" dirty="0"/>
                        <a:t>/</a:t>
                      </a:r>
                      <a:r>
                        <a:rPr lang="en-US" sz="1800" u="none" strike="noStrike" noProof="0" dirty="0" err="1"/>
                        <a:t>palih</a:t>
                      </a:r>
                      <a:r>
                        <a:rPr lang="en-US" sz="1800" u="none" strike="noStrike" noProof="0" dirty="0"/>
                        <a:t> </a:t>
                      </a:r>
                      <a:r>
                        <a:rPr lang="en-US" sz="1800" u="none" strike="noStrike" noProof="0" dirty="0" err="1"/>
                        <a:t>servisa</a:t>
                      </a:r>
                      <a:endParaRPr 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 err="1"/>
                        <a:t>Prekida</a:t>
                      </a:r>
                      <a:r>
                        <a:rPr lang="en-US" sz="1800" u="none" strike="noStrike" noProof="0" dirty="0"/>
                        <a:t> </a:t>
                      </a:r>
                      <a:r>
                        <a:rPr lang="en-US" sz="1800" u="none" strike="noStrike" noProof="0" err="1"/>
                        <a:t>pozive</a:t>
                      </a:r>
                      <a:r>
                        <a:rPr lang="en-US" sz="1800" u="none" strike="noStrike" noProof="0" dirty="0"/>
                        <a:t> </a:t>
                      </a:r>
                      <a:r>
                        <a:rPr lang="en-US" sz="1800" u="none" strike="noStrike" noProof="0" err="1"/>
                        <a:t>na</a:t>
                      </a:r>
                      <a:r>
                        <a:rPr lang="en-US" sz="1800" u="none" strike="noStrike" noProof="0" dirty="0"/>
                        <a:t> </a:t>
                      </a:r>
                      <a:r>
                        <a:rPr lang="en-US" sz="1800" u="none" strike="noStrike" noProof="0" err="1"/>
                        <a:t>određeno</a:t>
                      </a:r>
                      <a:r>
                        <a:rPr lang="en-US" sz="1800" u="none" strike="noStrike" noProof="0" dirty="0"/>
                        <a:t> </a:t>
                      </a:r>
                      <a:r>
                        <a:rPr lang="en-US" sz="1800" u="none" strike="noStrike" noProof="0" err="1"/>
                        <a:t>vreme</a:t>
                      </a:r>
                      <a:endParaRPr lang="en-US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681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 dirty="0"/>
                        <a:t>Bulkhead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 err="1"/>
                        <a:t>Sprečava</a:t>
                      </a:r>
                      <a:r>
                        <a:rPr lang="en-US" sz="1800" u="none" strike="noStrike" noProof="0" dirty="0"/>
                        <a:t> da </a:t>
                      </a:r>
                      <a:r>
                        <a:rPr lang="en-US" sz="1800" u="none" strike="noStrike" noProof="0" err="1"/>
                        <a:t>jedan</a:t>
                      </a:r>
                      <a:r>
                        <a:rPr lang="en-US" sz="1800" u="none" strike="noStrike" noProof="0" dirty="0"/>
                        <a:t> </a:t>
                      </a:r>
                      <a:r>
                        <a:rPr lang="en-US" sz="1800" u="none" strike="noStrike" noProof="0" err="1"/>
                        <a:t>servis</a:t>
                      </a:r>
                      <a:r>
                        <a:rPr lang="en-US" sz="1800" u="none" strike="noStrike" noProof="0" dirty="0"/>
                        <a:t> </a:t>
                      </a:r>
                      <a:r>
                        <a:rPr lang="en-US" sz="1800" u="none" strike="noStrike" noProof="0" err="1"/>
                        <a:t>potroši</a:t>
                      </a:r>
                      <a:r>
                        <a:rPr lang="en-US" sz="1800" u="none" strike="noStrike" noProof="0" dirty="0"/>
                        <a:t> </a:t>
                      </a:r>
                      <a:r>
                        <a:rPr lang="en-US" sz="1800" u="none" strike="noStrike" noProof="0" err="1"/>
                        <a:t>sve</a:t>
                      </a:r>
                      <a:r>
                        <a:rPr lang="en-US" sz="1800" u="none" strike="noStrike" noProof="0" dirty="0"/>
                        <a:t> </a:t>
                      </a:r>
                      <a:r>
                        <a:rPr lang="en-US" sz="1800" u="none" strike="noStrike" noProof="0" err="1"/>
                        <a:t>resurse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 err="1"/>
                        <a:t>Ograničava</a:t>
                      </a:r>
                      <a:r>
                        <a:rPr lang="en-US" sz="1800" u="none" strike="noStrike" noProof="0" dirty="0"/>
                        <a:t> </a:t>
                      </a:r>
                      <a:r>
                        <a:rPr lang="en-US" sz="1800" u="none" strike="noStrike" noProof="0" err="1"/>
                        <a:t>broj</a:t>
                      </a:r>
                      <a:r>
                        <a:rPr lang="en-US" sz="1800" u="none" strike="noStrike" noProof="0" dirty="0"/>
                        <a:t> </a:t>
                      </a:r>
                      <a:r>
                        <a:rPr lang="en-US" sz="1800" u="none" strike="noStrike" noProof="0" err="1"/>
                        <a:t>paralelnih</a:t>
                      </a:r>
                      <a:r>
                        <a:rPr lang="en-US" sz="1800" u="none" strike="noStrike" noProof="0" dirty="0"/>
                        <a:t> thread-ova/</a:t>
                      </a:r>
                      <a:r>
                        <a:rPr lang="en-US" sz="1800" u="none" strike="noStrike" noProof="0" err="1"/>
                        <a:t>zahteva</a:t>
                      </a:r>
                      <a:endParaRPr lang="en-US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992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 dirty="0"/>
                        <a:t>Retry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 err="1"/>
                        <a:t>Rešava</a:t>
                      </a:r>
                      <a:r>
                        <a:rPr lang="en-US" sz="1800" u="none" strike="noStrike" noProof="0" dirty="0"/>
                        <a:t> </a:t>
                      </a:r>
                      <a:r>
                        <a:rPr lang="en-US" sz="1800" u="none" strike="noStrike" noProof="0" err="1"/>
                        <a:t>trenutne</a:t>
                      </a:r>
                      <a:r>
                        <a:rPr lang="en-US" sz="1800" u="none" strike="noStrike" noProof="0" dirty="0"/>
                        <a:t>, </a:t>
                      </a:r>
                      <a:r>
                        <a:rPr lang="en-US" sz="1800" u="none" strike="noStrike" noProof="0" err="1"/>
                        <a:t>prolazne</a:t>
                      </a:r>
                      <a:r>
                        <a:rPr lang="en-US" sz="1800" u="none" strike="noStrike" noProof="0" dirty="0"/>
                        <a:t> </a:t>
                      </a:r>
                      <a:r>
                        <a:rPr lang="en-US" sz="1800" u="none" strike="noStrike" noProof="0" err="1"/>
                        <a:t>greške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 err="1"/>
                        <a:t>Ponavlja</a:t>
                      </a:r>
                      <a:r>
                        <a:rPr lang="en-US" sz="1800" u="none" strike="noStrike" noProof="0" dirty="0"/>
                        <a:t> </a:t>
                      </a:r>
                      <a:r>
                        <a:rPr lang="en-US" sz="1800" u="none" strike="noStrike" noProof="0" err="1"/>
                        <a:t>zahtev</a:t>
                      </a:r>
                      <a:r>
                        <a:rPr lang="en-US" sz="1800" u="none" strike="noStrike" noProof="0" dirty="0"/>
                        <a:t> X puta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2637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 dirty="0"/>
                        <a:t>Rate Limiter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 err="1"/>
                        <a:t>Štiti</a:t>
                      </a:r>
                      <a:r>
                        <a:rPr lang="en-US" sz="1800" u="none" strike="noStrike" noProof="0" dirty="0"/>
                        <a:t> </a:t>
                      </a:r>
                      <a:r>
                        <a:rPr lang="en-US" sz="1800" u="none" strike="noStrike" noProof="0" err="1"/>
                        <a:t>servis</a:t>
                      </a:r>
                      <a:r>
                        <a:rPr lang="en-US" sz="1800" u="none" strike="noStrike" noProof="0" dirty="0"/>
                        <a:t> od </a:t>
                      </a:r>
                      <a:r>
                        <a:rPr lang="en-US" sz="1800" u="none" strike="noStrike" noProof="0" err="1"/>
                        <a:t>prevelikog</a:t>
                      </a:r>
                      <a:r>
                        <a:rPr lang="en-US" sz="1800" u="none" strike="noStrike" noProof="0" dirty="0"/>
                        <a:t> </a:t>
                      </a:r>
                      <a:r>
                        <a:rPr lang="en-US" sz="1800" u="none" strike="noStrike" noProof="0" err="1"/>
                        <a:t>broja</a:t>
                      </a:r>
                      <a:r>
                        <a:rPr lang="en-US" sz="1800" u="none" strike="noStrike" noProof="0" dirty="0"/>
                        <a:t> </a:t>
                      </a:r>
                      <a:r>
                        <a:rPr lang="en-US" sz="1800" u="none" strike="noStrike" noProof="0" err="1"/>
                        <a:t>zahteva</a:t>
                      </a:r>
                      <a:endParaRPr lang="en-U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u="none" strike="noStrike" noProof="0" err="1"/>
                        <a:t>Ograničava</a:t>
                      </a:r>
                      <a:r>
                        <a:rPr lang="en-US" sz="1800" u="none" strike="noStrike" noProof="0" dirty="0"/>
                        <a:t> </a:t>
                      </a:r>
                      <a:r>
                        <a:rPr lang="en-US" sz="1800" u="none" strike="noStrike" noProof="0" err="1"/>
                        <a:t>broj</a:t>
                      </a:r>
                      <a:r>
                        <a:rPr lang="en-US" sz="1800" u="none" strike="noStrike" noProof="0" dirty="0"/>
                        <a:t> </a:t>
                      </a:r>
                      <a:r>
                        <a:rPr lang="en-US" sz="1800" u="none" strike="noStrike" noProof="0" err="1"/>
                        <a:t>zahteva</a:t>
                      </a:r>
                      <a:r>
                        <a:rPr lang="en-US" sz="1800" u="none" strike="noStrike" noProof="0" dirty="0"/>
                        <a:t> u </a:t>
                      </a:r>
                      <a:r>
                        <a:rPr lang="en-US" sz="1800" u="none" strike="noStrike" noProof="0" err="1"/>
                        <a:t>određenom</a:t>
                      </a:r>
                      <a:r>
                        <a:rPr lang="en-US" sz="1800" u="none" strike="noStrike" noProof="0" dirty="0"/>
                        <a:t> </a:t>
                      </a:r>
                      <a:r>
                        <a:rPr lang="en-US" sz="1800" u="none" strike="noStrike" noProof="0" err="1"/>
                        <a:t>vremenu</a:t>
                      </a:r>
                      <a:endParaRPr lang="en-US" sz="1800" u="none" strike="noStrike" noProof="0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407750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BF367-516B-3BCB-67ED-C84E58A9C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04412-DBD7-4311-96C4-1807071F6BD1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7F887-745C-EC35-38D6-83382FF2B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4F89F-2872-90B1-D5D1-AEE42688C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371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21F39-97EA-4B61-B5DC-979FDD169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Arhitektura</a:t>
            </a:r>
            <a:r>
              <a:rPr lang="en-US" dirty="0">
                <a:ea typeface="+mj-lt"/>
                <a:cs typeface="+mj-lt"/>
              </a:rPr>
              <a:t> Demo-a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4D147-3C10-273B-1667-52190321B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Demo </a:t>
            </a:r>
            <a:r>
              <a:rPr lang="en-US" sz="2800" dirty="0" err="1"/>
              <a:t>projekat</a:t>
            </a:r>
            <a:r>
              <a:rPr lang="en-US" sz="2800" dirty="0"/>
              <a:t> se </a:t>
            </a:r>
            <a:r>
              <a:rPr lang="en-US" sz="2800" dirty="0" err="1"/>
              <a:t>sastoji</a:t>
            </a:r>
            <a:r>
              <a:rPr lang="en-US" sz="2800" dirty="0"/>
              <a:t> </a:t>
            </a:r>
            <a:r>
              <a:rPr lang="en-US" sz="2800" dirty="0" err="1"/>
              <a:t>iz</a:t>
            </a:r>
            <a:r>
              <a:rPr lang="en-US" sz="2800" dirty="0"/>
              <a:t> </a:t>
            </a:r>
            <a:r>
              <a:rPr lang="en-US" sz="2800" dirty="0" err="1"/>
              <a:t>dva</a:t>
            </a:r>
            <a:r>
              <a:rPr lang="en-US" sz="2800" dirty="0"/>
              <a:t> dela: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sz="2400" b="1" dirty="0"/>
              <a:t>demo-resilience4j</a:t>
            </a:r>
            <a:r>
              <a:rPr lang="en-US" sz="2400" dirty="0"/>
              <a:t> – Backend Spring </a:t>
            </a:r>
            <a:r>
              <a:rPr lang="en-US" sz="2400" dirty="0" err="1"/>
              <a:t>servis</a:t>
            </a:r>
            <a:r>
              <a:rPr lang="en-US" sz="2400" dirty="0"/>
              <a:t> koji </a:t>
            </a:r>
            <a:r>
              <a:rPr lang="en-US" sz="2400" dirty="0" err="1"/>
              <a:t>simulira</a:t>
            </a:r>
            <a:r>
              <a:rPr lang="en-US" sz="2400" dirty="0"/>
              <a:t> </a:t>
            </a:r>
            <a:r>
              <a:rPr lang="en-US" sz="2400" dirty="0" err="1"/>
              <a:t>obradu</a:t>
            </a:r>
            <a:r>
              <a:rPr lang="en-US" sz="2400" dirty="0"/>
              <a:t> </a:t>
            </a:r>
            <a:r>
              <a:rPr lang="en-US" sz="2400" dirty="0" err="1"/>
              <a:t>uplata</a:t>
            </a:r>
            <a:endParaRPr lang="en-US" sz="2400" dirty="0"/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sz="2400" b="1" dirty="0"/>
              <a:t>demo-resilience4j-u</a:t>
            </a:r>
            <a:r>
              <a:rPr lang="en-US" sz="2400" dirty="0"/>
              <a:t>i – Frontend React </a:t>
            </a:r>
            <a:r>
              <a:rPr lang="en-US" sz="2400" dirty="0" err="1"/>
              <a:t>aplikacija</a:t>
            </a:r>
            <a:r>
              <a:rPr lang="en-US" sz="2400" dirty="0"/>
              <a:t> </a:t>
            </a:r>
            <a:r>
              <a:rPr lang="en-US" sz="2400" dirty="0" err="1"/>
              <a:t>koja</a:t>
            </a:r>
            <a:r>
              <a:rPr lang="en-US" sz="2400" dirty="0"/>
              <a:t> </a:t>
            </a:r>
            <a:r>
              <a:rPr lang="en-US" sz="2400" dirty="0" err="1"/>
              <a:t>ilustruje</a:t>
            </a:r>
            <a:r>
              <a:rPr lang="en-US" sz="2400" dirty="0"/>
              <a:t> </a:t>
            </a:r>
            <a:r>
              <a:rPr lang="en-US" sz="2400" dirty="0" err="1"/>
              <a:t>stanje</a:t>
            </a:r>
            <a:r>
              <a:rPr lang="en-US" sz="2400" dirty="0"/>
              <a:t> </a:t>
            </a:r>
            <a:r>
              <a:rPr lang="en-US" sz="2400" dirty="0" err="1"/>
              <a:t>uplata</a:t>
            </a:r>
            <a:r>
              <a:rPr lang="en-US" sz="2400" dirty="0"/>
              <a:t> u </a:t>
            </a:r>
            <a:r>
              <a:rPr lang="en-US" sz="2400" dirty="0" err="1"/>
              <a:t>realnom</a:t>
            </a:r>
            <a:r>
              <a:rPr lang="en-US" sz="2400" dirty="0"/>
              <a:t> </a:t>
            </a:r>
            <a:r>
              <a:rPr lang="en-US" sz="2400" dirty="0" err="1"/>
              <a:t>vremenu</a:t>
            </a: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D0755-8FB6-4BCC-2BB0-5478A2802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2BF13-4149-43B0-B69B-8BB54AC8C8D6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4F612-7FD5-0374-E374-09232C925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C31B5-9B0A-B442-A545-4FE0EA1F9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309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33325-2F13-466E-B9A5-9FDBBDF04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Nepredvidiv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Saobraćaj</a:t>
            </a:r>
            <a:r>
              <a:rPr lang="en-US" dirty="0">
                <a:ea typeface="+mj-lt"/>
                <a:cs typeface="+mj-lt"/>
              </a:rPr>
              <a:t> (Traffic Generator)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B2307-FF9F-09DB-2633-BC5D1D126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ea typeface="+mn-lt"/>
                <a:cs typeface="+mn-lt"/>
              </a:rPr>
              <a:t>Simulator </a:t>
            </a:r>
            <a:r>
              <a:rPr lang="en-US" sz="2400" dirty="0" err="1">
                <a:ea typeface="+mn-lt"/>
                <a:cs typeface="+mn-lt"/>
              </a:rPr>
              <a:t>šalje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zahteve</a:t>
            </a:r>
            <a:r>
              <a:rPr lang="en-US" sz="2400" dirty="0">
                <a:ea typeface="+mn-lt"/>
                <a:cs typeface="+mn-lt"/>
              </a:rPr>
              <a:t> ka </a:t>
            </a:r>
            <a:r>
              <a:rPr lang="en-US" sz="2400" dirty="0" err="1">
                <a:ea typeface="+mn-lt"/>
                <a:cs typeface="+mn-lt"/>
              </a:rPr>
              <a:t>sistemu</a:t>
            </a:r>
            <a:r>
              <a:rPr lang="en-US" sz="2400" dirty="0">
                <a:ea typeface="+mn-lt"/>
                <a:cs typeface="+mn-lt"/>
              </a:rPr>
              <a:t> u </a:t>
            </a:r>
            <a:r>
              <a:rPr lang="en-US" sz="2400" dirty="0" err="1">
                <a:ea typeface="+mn-lt"/>
                <a:cs typeface="+mn-lt"/>
              </a:rPr>
              <a:t>dva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režima</a:t>
            </a:r>
            <a:r>
              <a:rPr lang="en-US" sz="2400" dirty="0">
                <a:ea typeface="+mn-lt"/>
                <a:cs typeface="+mn-lt"/>
              </a:rPr>
              <a:t> rada </a:t>
            </a:r>
            <a:r>
              <a:rPr lang="en-US" sz="2400" dirty="0" err="1">
                <a:ea typeface="+mn-lt"/>
                <a:cs typeface="+mn-lt"/>
              </a:rPr>
              <a:t>kako</a:t>
            </a:r>
            <a:r>
              <a:rPr lang="en-US" sz="2400" dirty="0">
                <a:ea typeface="+mn-lt"/>
                <a:cs typeface="+mn-lt"/>
              </a:rPr>
              <a:t> bi </a:t>
            </a:r>
            <a:r>
              <a:rPr lang="en-US" sz="2400" dirty="0" err="1">
                <a:ea typeface="+mn-lt"/>
                <a:cs typeface="+mn-lt"/>
              </a:rPr>
              <a:t>testirao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opterećenje</a:t>
            </a:r>
            <a:r>
              <a:rPr lang="en-US" sz="2400" dirty="0">
                <a:ea typeface="+mn-lt"/>
                <a:cs typeface="+mn-lt"/>
              </a:rPr>
              <a:t>:</a:t>
            </a:r>
          </a:p>
          <a:p>
            <a:pPr marL="493395"/>
            <a:r>
              <a:rPr lang="en-US" b="1" dirty="0">
                <a:ea typeface="+mn-lt"/>
                <a:cs typeface="+mn-lt"/>
              </a:rPr>
              <a:t>Normal Mode: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Stabilan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tok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saobraćaja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zahtevi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err="1">
                <a:ea typeface="+mn-lt"/>
                <a:cs typeface="+mn-lt"/>
              </a:rPr>
              <a:t>šalju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svakih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2000ms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493395" lvl="1"/>
            <a:r>
              <a:rPr lang="en-US" sz="2000" b="1" dirty="0">
                <a:ea typeface="+mn-lt"/>
                <a:cs typeface="+mn-lt"/>
              </a:rPr>
              <a:t>Burst Mode (Spike):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Nasumično</a:t>
            </a:r>
            <a:r>
              <a:rPr lang="en-US" sz="2000" dirty="0">
                <a:ea typeface="+mn-lt"/>
                <a:cs typeface="+mn-lt"/>
              </a:rPr>
              <a:t> se </a:t>
            </a:r>
            <a:r>
              <a:rPr lang="en-US" sz="2000" dirty="0" err="1">
                <a:ea typeface="+mn-lt"/>
                <a:cs typeface="+mn-lt"/>
              </a:rPr>
              <a:t>aktivira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režim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visokog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opterećenja</a:t>
            </a:r>
            <a:r>
              <a:rPr lang="en-US" sz="2000" dirty="0">
                <a:ea typeface="+mn-lt"/>
                <a:cs typeface="+mn-lt"/>
              </a:rPr>
              <a:t> u </a:t>
            </a:r>
            <a:r>
              <a:rPr lang="en-US" sz="2000" dirty="0" err="1">
                <a:ea typeface="+mn-lt"/>
                <a:cs typeface="+mn-lt"/>
              </a:rPr>
              <a:t>trajanju</a:t>
            </a:r>
            <a:r>
              <a:rPr lang="en-US" sz="2000" dirty="0">
                <a:ea typeface="+mn-lt"/>
                <a:cs typeface="+mn-lt"/>
              </a:rPr>
              <a:t> od </a:t>
            </a:r>
            <a:r>
              <a:rPr lang="en-US" sz="2000" b="1" dirty="0">
                <a:ea typeface="+mn-lt"/>
                <a:cs typeface="+mn-lt"/>
              </a:rPr>
              <a:t>5 </a:t>
            </a:r>
            <a:r>
              <a:rPr lang="en-US" sz="2000" b="1" dirty="0" err="1">
                <a:ea typeface="+mn-lt"/>
                <a:cs typeface="+mn-lt"/>
              </a:rPr>
              <a:t>sekundi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zahtevi</a:t>
            </a:r>
            <a:r>
              <a:rPr lang="en-US" sz="2000" dirty="0">
                <a:ea typeface="+mn-lt"/>
                <a:cs typeface="+mn-lt"/>
              </a:rPr>
              <a:t> se </a:t>
            </a:r>
            <a:r>
              <a:rPr lang="en-US" sz="2000" dirty="0" err="1">
                <a:ea typeface="+mn-lt"/>
                <a:cs typeface="+mn-lt"/>
              </a:rPr>
              <a:t>šalju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svakih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>
                <a:ea typeface="+mn-lt"/>
                <a:cs typeface="+mn-lt"/>
              </a:rPr>
              <a:t>50ms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  <a:p>
            <a:r>
              <a:rPr lang="en-US" sz="2200" err="1">
                <a:ea typeface="+mn-lt"/>
                <a:cs typeface="+mn-lt"/>
              </a:rPr>
              <a:t>Cilj</a:t>
            </a:r>
            <a:r>
              <a:rPr lang="en-US" sz="2200" dirty="0">
                <a:ea typeface="+mn-lt"/>
                <a:cs typeface="+mn-lt"/>
              </a:rPr>
              <a:t> </a:t>
            </a:r>
            <a:r>
              <a:rPr lang="en-US" sz="2200" err="1">
                <a:ea typeface="+mn-lt"/>
                <a:cs typeface="+mn-lt"/>
              </a:rPr>
              <a:t>simulacije</a:t>
            </a:r>
            <a:r>
              <a:rPr lang="en-US" sz="2200" dirty="0">
                <a:ea typeface="+mn-lt"/>
                <a:cs typeface="+mn-lt"/>
              </a:rPr>
              <a:t> je </a:t>
            </a:r>
            <a:r>
              <a:rPr lang="en-US" sz="2200" err="1">
                <a:ea typeface="+mn-lt"/>
                <a:cs typeface="+mn-lt"/>
              </a:rPr>
              <a:t>testiranje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>
                <a:latin typeface="Consolas"/>
              </a:rPr>
              <a:t>Rate Limiter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i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>
                <a:latin typeface="Consolas"/>
              </a:rPr>
              <a:t>Bulkhead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mehanizama</a:t>
            </a:r>
            <a:r>
              <a:rPr lang="en-US" sz="2200" dirty="0">
                <a:ea typeface="+mn-lt"/>
                <a:cs typeface="+mn-lt"/>
              </a:rPr>
              <a:t> pod </a:t>
            </a:r>
            <a:r>
              <a:rPr lang="en-US" sz="2200" err="1">
                <a:ea typeface="+mn-lt"/>
                <a:cs typeface="+mn-lt"/>
              </a:rPr>
              <a:t>pritiskom</a:t>
            </a:r>
            <a:r>
              <a:rPr lang="en-US" sz="2200" dirty="0">
                <a:ea typeface="+mn-lt"/>
                <a:cs typeface="+mn-lt"/>
              </a:rPr>
              <a:t>.</a:t>
            </a:r>
            <a:endParaRPr lang="en-US" sz="2200"/>
          </a:p>
          <a:p>
            <a:pPr marL="493395" lvl="1">
              <a:buFont typeface="Courier New" panose="020B0604020202020204" pitchFamily="34" charset="0"/>
              <a:buChar char="o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93C26C-5A1D-4A04-F372-7C184B950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8CFA1-573D-4927-BA23-6064EF414F20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6A7F03-178A-2BF1-37E4-6F343AF86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237D2-B6D6-E779-6525-06A2E3614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782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6E9D1-C51D-013E-1418-2F144623E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Nestabilan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Eksterni</a:t>
            </a:r>
            <a:r>
              <a:rPr lang="en-US" dirty="0">
                <a:ea typeface="+mj-lt"/>
                <a:cs typeface="+mj-lt"/>
              </a:rPr>
              <a:t> Servis (Fault Injection)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C12D5-32CC-1E3F-990F-D585111C22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 err="1">
                <a:ea typeface="+mn-lt"/>
                <a:cs typeface="+mn-lt"/>
              </a:rPr>
              <a:t>Eksterni</a:t>
            </a:r>
            <a:r>
              <a:rPr lang="en-US" sz="2200" dirty="0">
                <a:ea typeface="+mn-lt"/>
                <a:cs typeface="+mn-lt"/>
              </a:rPr>
              <a:t> API </a:t>
            </a:r>
            <a:r>
              <a:rPr lang="en-US" sz="2200" dirty="0" err="1">
                <a:ea typeface="+mn-lt"/>
                <a:cs typeface="+mn-lt"/>
              </a:rPr>
              <a:t>nije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uvek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dostupan</a:t>
            </a:r>
            <a:r>
              <a:rPr lang="en-US" sz="2200" dirty="0">
                <a:ea typeface="+mn-lt"/>
                <a:cs typeface="+mn-lt"/>
              </a:rPr>
              <a:t>. </a:t>
            </a:r>
            <a:r>
              <a:rPr lang="en-US" sz="2200" dirty="0" err="1">
                <a:ea typeface="+mn-lt"/>
                <a:cs typeface="+mn-lt"/>
              </a:rPr>
              <a:t>Programiran</a:t>
            </a:r>
            <a:r>
              <a:rPr lang="en-US" sz="2200" dirty="0">
                <a:ea typeface="+mn-lt"/>
                <a:cs typeface="+mn-lt"/>
              </a:rPr>
              <a:t> je da </a:t>
            </a:r>
            <a:r>
              <a:rPr lang="en-US" sz="2200" dirty="0" err="1">
                <a:ea typeface="+mn-lt"/>
                <a:cs typeface="+mn-lt"/>
              </a:rPr>
              <a:t>simulira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periodične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ispade</a:t>
            </a:r>
            <a:r>
              <a:rPr lang="en-US" sz="2200" dirty="0">
                <a:ea typeface="+mn-lt"/>
                <a:cs typeface="+mn-lt"/>
              </a:rPr>
              <a:t>:</a:t>
            </a:r>
          </a:p>
          <a:p>
            <a:pPr marL="493395"/>
            <a:r>
              <a:rPr lang="en-US" b="1" dirty="0" err="1">
                <a:ea typeface="+mn-lt"/>
                <a:cs typeface="+mn-lt"/>
              </a:rPr>
              <a:t>Frekvencija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otkaza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Servis "pada" </a:t>
            </a:r>
            <a:r>
              <a:rPr lang="en-US" dirty="0" err="1">
                <a:ea typeface="+mn-lt"/>
                <a:cs typeface="+mn-lt"/>
              </a:rPr>
              <a:t>nasumično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svakih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30 do 50 </a:t>
            </a:r>
            <a:r>
              <a:rPr lang="en-US" b="1" dirty="0" err="1">
                <a:ea typeface="+mn-lt"/>
                <a:cs typeface="+mn-lt"/>
              </a:rPr>
              <a:t>sekundi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493395" lvl="1"/>
            <a:r>
              <a:rPr lang="en-US" sz="2000" b="1" dirty="0" err="1">
                <a:ea typeface="+mn-lt"/>
                <a:cs typeface="+mn-lt"/>
              </a:rPr>
              <a:t>Trajanje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otkaza</a:t>
            </a:r>
            <a:r>
              <a:rPr lang="en-US" sz="2000" b="1" dirty="0">
                <a:ea typeface="+mn-lt"/>
                <a:cs typeface="+mn-lt"/>
              </a:rPr>
              <a:t>: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Nedostupnost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traje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između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b="1" dirty="0">
                <a:ea typeface="+mn-lt"/>
                <a:cs typeface="+mn-lt"/>
              </a:rPr>
              <a:t>10 </a:t>
            </a:r>
            <a:r>
              <a:rPr lang="en-US" sz="2000" b="1" dirty="0" err="1">
                <a:ea typeface="+mn-lt"/>
                <a:cs typeface="+mn-lt"/>
              </a:rPr>
              <a:t>i</a:t>
            </a:r>
            <a:r>
              <a:rPr lang="en-US" sz="2000" b="1" dirty="0">
                <a:ea typeface="+mn-lt"/>
                <a:cs typeface="+mn-lt"/>
              </a:rPr>
              <a:t> 20 </a:t>
            </a:r>
            <a:r>
              <a:rPr lang="en-US" sz="2000" b="1" dirty="0" err="1">
                <a:ea typeface="+mn-lt"/>
                <a:cs typeface="+mn-lt"/>
              </a:rPr>
              <a:t>sekundi</a:t>
            </a:r>
            <a:r>
              <a:rPr lang="en-US" sz="2000" dirty="0">
                <a:ea typeface="+mn-lt"/>
                <a:cs typeface="+mn-lt"/>
              </a:rPr>
              <a:t>.</a:t>
            </a:r>
          </a:p>
          <a:p>
            <a:r>
              <a:rPr lang="en-US" sz="2200" dirty="0" err="1">
                <a:ea typeface="+mn-lt"/>
                <a:cs typeface="+mn-lt"/>
              </a:rPr>
              <a:t>Cilj</a:t>
            </a:r>
            <a:r>
              <a:rPr lang="en-US" sz="2200" dirty="0">
                <a:ea typeface="+mn-lt"/>
                <a:cs typeface="+mn-lt"/>
              </a:rPr>
              <a:t> je </a:t>
            </a:r>
            <a:r>
              <a:rPr lang="en-US" sz="2200" dirty="0" err="1">
                <a:ea typeface="+mn-lt"/>
                <a:cs typeface="+mn-lt"/>
              </a:rPr>
              <a:t>testiranje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>
                <a:latin typeface="Consolas"/>
              </a:rPr>
              <a:t>Circuit Breaker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i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>
                <a:latin typeface="Consolas"/>
              </a:rPr>
              <a:t>Retry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mehanizama</a:t>
            </a:r>
            <a:r>
              <a:rPr lang="en-US" sz="2200" dirty="0">
                <a:ea typeface="+mn-lt"/>
                <a:cs typeface="+mn-lt"/>
              </a:rPr>
              <a:t>, </a:t>
            </a:r>
            <a:r>
              <a:rPr lang="en-US" sz="2200" dirty="0" err="1">
                <a:ea typeface="+mn-lt"/>
                <a:cs typeface="+mn-lt"/>
              </a:rPr>
              <a:t>kao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i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oporavak</a:t>
            </a:r>
            <a:r>
              <a:rPr lang="en-US" sz="2200" dirty="0">
                <a:ea typeface="+mn-lt"/>
                <a:cs typeface="+mn-lt"/>
              </a:rPr>
              <a:t> </a:t>
            </a:r>
            <a:r>
              <a:rPr lang="en-US" sz="2200" dirty="0" err="1">
                <a:ea typeface="+mn-lt"/>
                <a:cs typeface="+mn-lt"/>
              </a:rPr>
              <a:t>sistema</a:t>
            </a:r>
            <a:r>
              <a:rPr lang="en-US" sz="2200" dirty="0">
                <a:ea typeface="+mn-lt"/>
                <a:cs typeface="+mn-lt"/>
              </a:rPr>
              <a:t> (Dead Letter Queue - DQL).</a:t>
            </a:r>
            <a:endParaRPr lang="en-US" sz="2200" dirty="0"/>
          </a:p>
          <a:p>
            <a:pPr marL="493395"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68E84-C2D8-DF23-A9C8-C25A732DA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5E92C-F72B-4E10-B392-DC5336AE9FC9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45C8A-6200-1F83-3CAA-F195D9625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1A1761-1A9A-3A73-CD61-49269B591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969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F1EA4-3EF2-9788-4FA4-681E394F2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Konfiguracija</a:t>
            </a:r>
            <a:endParaRPr lang="en-US" sz="4000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7A9A0F2-A78A-B270-8E55-AB0CD17F92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22469" y="461444"/>
            <a:ext cx="4585903" cy="593233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72EA1D-CE2D-B530-CD7E-43D14CDBC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Za </a:t>
            </a:r>
            <a:r>
              <a:rPr lang="en-US" sz="2400" err="1">
                <a:ea typeface="+mn-lt"/>
                <a:cs typeface="+mn-lt"/>
              </a:rPr>
              <a:t>početak</a:t>
            </a:r>
            <a:r>
              <a:rPr lang="en-US" sz="2400" dirty="0">
                <a:ea typeface="+mn-lt"/>
                <a:cs typeface="+mn-lt"/>
              </a:rPr>
              <a:t> je </a:t>
            </a:r>
            <a:r>
              <a:rPr lang="en-US" sz="2400" err="1">
                <a:ea typeface="+mn-lt"/>
                <a:cs typeface="+mn-lt"/>
              </a:rPr>
              <a:t>potrebno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odabrati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optimalne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parametre</a:t>
            </a:r>
            <a:r>
              <a:rPr lang="en-US" sz="2400" dirty="0">
                <a:ea typeface="+mn-lt"/>
                <a:cs typeface="+mn-lt"/>
              </a:rPr>
              <a:t> resilience4j </a:t>
            </a:r>
            <a:r>
              <a:rPr lang="en-US" sz="2400" err="1">
                <a:ea typeface="+mn-lt"/>
                <a:cs typeface="+mn-lt"/>
              </a:rPr>
              <a:t>mehanizama</a:t>
            </a:r>
            <a:r>
              <a:rPr lang="en-US" sz="2400" dirty="0">
                <a:ea typeface="+mn-lt"/>
                <a:cs typeface="+mn-lt"/>
              </a:rPr>
              <a:t>. Primer </a:t>
            </a:r>
            <a:r>
              <a:rPr lang="en-US" sz="2400" err="1">
                <a:ea typeface="+mn-lt"/>
                <a:cs typeface="+mn-lt"/>
              </a:rPr>
              <a:t>iz</a:t>
            </a:r>
            <a:r>
              <a:rPr lang="en-US" sz="2400" dirty="0">
                <a:ea typeface="+mn-lt"/>
                <a:cs typeface="+mn-lt"/>
              </a:rPr>
              <a:t> demo </a:t>
            </a:r>
            <a:r>
              <a:rPr lang="en-US" sz="2400" err="1">
                <a:ea typeface="+mn-lt"/>
                <a:cs typeface="+mn-lt"/>
              </a:rPr>
              <a:t>aplikacije</a:t>
            </a:r>
            <a:r>
              <a:rPr lang="en-US" sz="2400" dirty="0">
                <a:ea typeface="+mn-lt"/>
                <a:cs typeface="+mn-lt"/>
              </a:rPr>
              <a:t>:</a:t>
            </a:r>
          </a:p>
          <a:p>
            <a:r>
              <a:rPr lang="en-US" sz="2400" dirty="0">
                <a:ea typeface="+mn-lt"/>
                <a:cs typeface="+mn-lt"/>
              </a:rPr>
              <a:t>(</a:t>
            </a:r>
            <a:r>
              <a:rPr lang="en-US" sz="2400" dirty="0" err="1">
                <a:ea typeface="+mn-lt"/>
                <a:cs typeface="+mn-lt"/>
              </a:rPr>
              <a:t>detalji</a:t>
            </a:r>
            <a:r>
              <a:rPr lang="en-US" sz="2400" dirty="0">
                <a:ea typeface="+mn-lt"/>
                <a:cs typeface="+mn-lt"/>
              </a:rPr>
              <a:t> u README.md)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36389-8D80-CA90-CA87-31DD27580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0876-7BAB-40EA-A56A-B5A543311735}" type="datetime1">
              <a:t>1/25/2026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C091F-EAF7-0908-B6D6-7895CCECF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EE1C9-45F6-C4F8-3E33-346202FAD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2535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C9375-9E1F-D6AA-712A-C543642C6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</a:t>
            </a:r>
            <a:r>
              <a:rPr lang="en-US" dirty="0" err="1"/>
              <a:t>implementacija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19BB965-E642-16C9-D046-1D2A695E4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377" y="2943933"/>
            <a:ext cx="3783701" cy="32104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Resilience4j </a:t>
            </a:r>
            <a:r>
              <a:rPr lang="en-US" dirty="0" err="1">
                <a:ea typeface="+mn-lt"/>
                <a:cs typeface="+mn-lt"/>
              </a:rPr>
              <a:t>omogućava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primenu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mehanizama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putem</a:t>
            </a:r>
            <a:r>
              <a:rPr lang="en-US" dirty="0">
                <a:ea typeface="+mn-lt"/>
                <a:cs typeface="+mn-lt"/>
              </a:rPr>
              <a:t> AOP (Aspect Oriented Programming) </a:t>
            </a:r>
            <a:r>
              <a:rPr lang="en-US" dirty="0" err="1">
                <a:ea typeface="+mn-lt"/>
                <a:cs typeface="+mn-lt"/>
              </a:rPr>
              <a:t>anotacija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držeći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biznis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logiku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čistom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DB52B-609A-6107-D88C-218BA7E6B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81C860-DAA5-4209-B353-3AE7C4B557D9}" type="datetime1">
              <a:t>1/25/2026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3D5AD-51B5-1E32-D6A9-71AAF24B8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24</a:t>
            </a:fld>
            <a:endParaRPr lang="en-US" dirty="0"/>
          </a:p>
        </p:txBody>
      </p:sp>
      <p:sp>
        <p:nvSpPr>
          <p:cNvPr id="12" name="Content Placeholder 8">
            <a:extLst>
              <a:ext uri="{FF2B5EF4-FFF2-40B4-BE49-F238E27FC236}">
                <a16:creationId xmlns:a16="http://schemas.microsoft.com/office/drawing/2014/main" id="{D3933959-4095-6E2F-E2C9-A76E1512BEDE}"/>
              </a:ext>
            </a:extLst>
          </p:cNvPr>
          <p:cNvSpPr txBox="1">
            <a:spLocks/>
          </p:cNvSpPr>
          <p:nvPr/>
        </p:nvSpPr>
        <p:spPr>
          <a:xfrm>
            <a:off x="6344830" y="5267696"/>
            <a:ext cx="3783701" cy="5873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err="1">
                <a:ea typeface="+mn-lt"/>
                <a:cs typeface="+mn-lt"/>
              </a:rPr>
              <a:t>Klasa</a:t>
            </a:r>
            <a:r>
              <a:rPr lang="en-US" sz="1400" dirty="0">
                <a:ea typeface="+mn-lt"/>
                <a:cs typeface="+mn-lt"/>
              </a:rPr>
              <a:t> </a:t>
            </a:r>
            <a:r>
              <a:rPr lang="en-US" sz="1400" b="1" err="1">
                <a:ea typeface="+mn-lt"/>
                <a:cs typeface="+mn-lt"/>
              </a:rPr>
              <a:t>PaymentService</a:t>
            </a:r>
            <a:endParaRPr lang="en-US" sz="1400"/>
          </a:p>
        </p:txBody>
      </p:sp>
      <p:pic>
        <p:nvPicPr>
          <p:cNvPr id="13" name="Picture 1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B7CB0101-C0D3-1ABF-F058-3CC59AAF8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8514" y="2850482"/>
            <a:ext cx="7357009" cy="2202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9990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1DAEA-0D59-A5A6-3F89-E6EEA18FA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Fallback </a:t>
            </a:r>
            <a:r>
              <a:rPr lang="en-US" dirty="0" err="1"/>
              <a:t>metoda</a:t>
            </a:r>
          </a:p>
        </p:txBody>
      </p:sp>
      <p:pic>
        <p:nvPicPr>
          <p:cNvPr id="9" name="Content Placeholder 8" descr="A computer code with white text&#10;&#10;AI-generated content may be incorrect.">
            <a:extLst>
              <a:ext uri="{FF2B5EF4-FFF2-40B4-BE49-F238E27FC236}">
                <a16:creationId xmlns:a16="http://schemas.microsoft.com/office/drawing/2014/main" id="{654EFC44-3507-CA00-3682-DDCD4F91F7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399" y="3467668"/>
            <a:ext cx="10363200" cy="156566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0BC10-2C31-7C51-26FE-72F5CD77B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047C5-BA4E-48DF-8B0C-DDC643808D5A}" type="datetime1">
              <a:t>1/25/2026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73BB92-C321-EAA0-852A-8E84580C8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943C23-E63A-7913-59B2-7A5982C8F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25</a:t>
            </a:fld>
            <a:endParaRPr lang="en-US" dirty="0"/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12CF13B9-C148-CBF8-1279-ED119FD58F0F}"/>
              </a:ext>
            </a:extLst>
          </p:cNvPr>
          <p:cNvSpPr txBox="1">
            <a:spLocks/>
          </p:cNvSpPr>
          <p:nvPr/>
        </p:nvSpPr>
        <p:spPr>
          <a:xfrm>
            <a:off x="1006784" y="2175190"/>
            <a:ext cx="10264073" cy="12144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U </a:t>
            </a:r>
            <a:r>
              <a:rPr lang="en-US" dirty="0" err="1">
                <a:ea typeface="+mn-lt"/>
                <a:cs typeface="+mn-lt"/>
              </a:rPr>
              <a:t>slučaju</a:t>
            </a:r>
            <a:r>
              <a:rPr lang="en-US" dirty="0">
                <a:ea typeface="+mn-lt"/>
                <a:cs typeface="+mn-lt"/>
              </a:rPr>
              <a:t> da se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187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32AEB-075F-DA9C-3C81-86DA48B2F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10784830" cy="1471548"/>
          </a:xfrm>
        </p:spPr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Pametni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Oporavak</a:t>
            </a:r>
            <a:r>
              <a:rPr lang="en-US" dirty="0">
                <a:ea typeface="+mj-lt"/>
                <a:cs typeface="+mj-lt"/>
              </a:rPr>
              <a:t> (Self-Healing)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BCF4F-C388-9DE6-81BD-945BC296E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213046"/>
            <a:ext cx="10784830" cy="29344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>
                <a:ea typeface="+mn-lt"/>
                <a:cs typeface="+mn-lt"/>
              </a:rPr>
              <a:t>Sistem</a:t>
            </a:r>
            <a:r>
              <a:rPr lang="en-US" sz="2000" dirty="0">
                <a:ea typeface="+mn-lt"/>
                <a:cs typeface="+mn-lt"/>
              </a:rPr>
              <a:t> ne </a:t>
            </a:r>
            <a:r>
              <a:rPr lang="en-US" sz="2000" dirty="0" err="1">
                <a:ea typeface="+mn-lt"/>
                <a:cs typeface="+mn-lt"/>
              </a:rPr>
              <a:t>samo</a:t>
            </a:r>
            <a:r>
              <a:rPr lang="en-US" sz="2000" dirty="0">
                <a:ea typeface="+mn-lt"/>
                <a:cs typeface="+mn-lt"/>
              </a:rPr>
              <a:t> da </a:t>
            </a:r>
            <a:r>
              <a:rPr lang="en-US" sz="2000" dirty="0" err="1">
                <a:ea typeface="+mn-lt"/>
                <a:cs typeface="+mn-lt"/>
              </a:rPr>
              <a:t>sprečava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greške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već</a:t>
            </a:r>
            <a:r>
              <a:rPr lang="en-US" sz="2000" dirty="0">
                <a:ea typeface="+mn-lt"/>
                <a:cs typeface="+mn-lt"/>
              </a:rPr>
              <a:t> se </a:t>
            </a:r>
            <a:r>
              <a:rPr lang="en-US" sz="2000" b="1" dirty="0" err="1">
                <a:ea typeface="+mn-lt"/>
                <a:cs typeface="+mn-lt"/>
              </a:rPr>
              <a:t>samostalno</a:t>
            </a:r>
            <a:r>
              <a:rPr lang="en-US" sz="2000" b="1" dirty="0">
                <a:ea typeface="+mn-lt"/>
                <a:cs typeface="+mn-lt"/>
              </a:rPr>
              <a:t> </a:t>
            </a:r>
            <a:r>
              <a:rPr lang="en-US" sz="2000" b="1" dirty="0" err="1">
                <a:ea typeface="+mn-lt"/>
                <a:cs typeface="+mn-lt"/>
              </a:rPr>
              <a:t>oporavlja</a:t>
            </a:r>
            <a:r>
              <a:rPr lang="en-US" sz="2000" dirty="0">
                <a:ea typeface="+mn-lt"/>
                <a:cs typeface="+mn-lt"/>
              </a:rPr>
              <a:t>. Kada Circuit Breaker </a:t>
            </a:r>
            <a:r>
              <a:rPr lang="en-US" sz="2000" dirty="0" err="1">
                <a:ea typeface="+mn-lt"/>
                <a:cs typeface="+mn-lt"/>
              </a:rPr>
              <a:t>detektuje</a:t>
            </a:r>
            <a:r>
              <a:rPr lang="en-US" sz="2000" dirty="0">
                <a:ea typeface="+mn-lt"/>
                <a:cs typeface="+mn-lt"/>
              </a:rPr>
              <a:t> da je </a:t>
            </a:r>
            <a:r>
              <a:rPr lang="en-US" sz="2000" dirty="0" err="1">
                <a:ea typeface="+mn-lt"/>
                <a:cs typeface="+mn-lt"/>
              </a:rPr>
              <a:t>eksterni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servis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ponovo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dostupan</a:t>
            </a:r>
            <a:r>
              <a:rPr lang="en-US" sz="2000" dirty="0">
                <a:ea typeface="+mn-lt"/>
                <a:cs typeface="+mn-lt"/>
              </a:rPr>
              <a:t>, </a:t>
            </a:r>
            <a:r>
              <a:rPr lang="en-US" sz="2000" dirty="0" err="1">
                <a:ea typeface="+mn-lt"/>
                <a:cs typeface="+mn-lt"/>
              </a:rPr>
              <a:t>automatski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pokreće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ponovnu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obradu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propuštenih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transakcija</a:t>
            </a:r>
            <a:r>
              <a:rPr lang="en-US" sz="2000" dirty="0">
                <a:ea typeface="+mn-lt"/>
                <a:cs typeface="+mn-lt"/>
              </a:rPr>
              <a:t>. </a:t>
            </a:r>
            <a:r>
              <a:rPr lang="en-US" sz="2000" dirty="0" err="1">
                <a:ea typeface="+mn-lt"/>
                <a:cs typeface="+mn-lt"/>
              </a:rPr>
              <a:t>Slušamo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promenu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stanja</a:t>
            </a:r>
            <a:r>
              <a:rPr lang="en-US" sz="2000" dirty="0">
                <a:ea typeface="+mn-lt"/>
                <a:cs typeface="+mn-lt"/>
              </a:rPr>
              <a:t> Circuit </a:t>
            </a:r>
            <a:r>
              <a:rPr lang="en-US" sz="2000" dirty="0" err="1">
                <a:ea typeface="+mn-lt"/>
                <a:cs typeface="+mn-lt"/>
              </a:rPr>
              <a:t>Breakera</a:t>
            </a:r>
            <a:r>
              <a:rPr lang="en-US" sz="2000" dirty="0">
                <a:ea typeface="+mn-lt"/>
                <a:cs typeface="+mn-lt"/>
              </a:rPr>
              <a:t> (</a:t>
            </a:r>
            <a:r>
              <a:rPr lang="en-US" sz="2000" dirty="0">
                <a:latin typeface="Consolas"/>
                <a:ea typeface="+mn-lt"/>
                <a:cs typeface="+mn-lt"/>
              </a:rPr>
              <a:t>HALF_OPEN_TO_CLOSED</a:t>
            </a:r>
            <a:r>
              <a:rPr lang="en-US" sz="2000" dirty="0">
                <a:ea typeface="+mn-lt"/>
                <a:cs typeface="+mn-lt"/>
              </a:rPr>
              <a:t>)</a:t>
            </a: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F2A95-4847-4724-BF81-3BA8B3572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0F74B-43AB-4BFE-BBB6-13FAF1D17F88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55935-1506-9BD5-D28A-E1389C693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DB4F40-A400-3956-BDBE-58C95C83F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26</a:t>
            </a:fld>
            <a:endParaRPr lang="en-US" dirty="0"/>
          </a:p>
        </p:txBody>
      </p:sp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74C253CC-0B73-0A47-43DC-ECF169D64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311" y="3505622"/>
            <a:ext cx="9258638" cy="246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7453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65EC1-D201-B61E-16FA-C870B106C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Pametni</a:t>
            </a:r>
            <a:r>
              <a:rPr lang="en-US" dirty="0"/>
              <a:t> </a:t>
            </a:r>
            <a:r>
              <a:rPr lang="en-US" dirty="0" err="1"/>
              <a:t>Oporavak</a:t>
            </a:r>
            <a:r>
              <a:rPr lang="en-US" dirty="0"/>
              <a:t> </a:t>
            </a:r>
            <a:br>
              <a:rPr lang="en-US" dirty="0"/>
            </a:br>
            <a:r>
              <a:rPr lang="en-US" dirty="0"/>
              <a:t>(Self-Healing)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783FA-BA80-8C9D-C6C3-F9B162B2F3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778019" cy="293440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 err="1">
                <a:ea typeface="+mn-lt"/>
                <a:cs typeface="+mn-lt"/>
              </a:rPr>
              <a:t>Pokreće</a:t>
            </a:r>
            <a:r>
              <a:rPr lang="en-US" sz="2000" dirty="0">
                <a:ea typeface="+mn-lt"/>
                <a:cs typeface="+mn-lt"/>
              </a:rPr>
              <a:t> se </a:t>
            </a:r>
            <a:r>
              <a:rPr lang="en-US" sz="2000" dirty="0" err="1">
                <a:ea typeface="+mn-lt"/>
                <a:cs typeface="+mn-lt"/>
              </a:rPr>
              <a:t>asinhroni</a:t>
            </a:r>
            <a:r>
              <a:rPr lang="en-US" sz="2000" dirty="0">
                <a:ea typeface="+mn-lt"/>
                <a:cs typeface="+mn-lt"/>
              </a:rPr>
              <a:t> flush DLQ </a:t>
            </a:r>
            <a:r>
              <a:rPr lang="en-US" sz="2000" dirty="0" err="1">
                <a:ea typeface="+mn-lt"/>
                <a:cs typeface="+mn-lt"/>
              </a:rPr>
              <a:t>reda</a:t>
            </a:r>
            <a:r>
              <a:rPr lang="en-US" sz="2000" dirty="0">
                <a:ea typeface="+mn-lt"/>
                <a:cs typeface="+mn-lt"/>
              </a:rPr>
              <a:t>.</a:t>
            </a:r>
            <a:r>
              <a:rPr lang="en-US" sz="2000" dirty="0"/>
              <a:t> </a:t>
            </a:r>
            <a:r>
              <a:rPr lang="en-US" sz="2000" dirty="0" err="1"/>
              <a:t>Neuspeli</a:t>
            </a:r>
            <a:r>
              <a:rPr lang="en-US" sz="2000" dirty="0"/>
              <a:t> </a:t>
            </a:r>
            <a:r>
              <a:rPr lang="en-US" sz="2000" dirty="0" err="1"/>
              <a:t>zahtevi</a:t>
            </a:r>
            <a:r>
              <a:rPr lang="en-US" sz="2000" dirty="0"/>
              <a:t> se </a:t>
            </a:r>
            <a:r>
              <a:rPr lang="en-US" sz="2000" dirty="0" err="1"/>
              <a:t>ponavljaju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svakih</a:t>
            </a:r>
            <a:r>
              <a:rPr lang="en-US" sz="2000" dirty="0"/>
              <a:t> 500ms, </a:t>
            </a:r>
            <a:r>
              <a:rPr lang="en-US" sz="2000" dirty="0" err="1"/>
              <a:t>dok</a:t>
            </a:r>
            <a:r>
              <a:rPr lang="en-US" sz="2000" dirty="0"/>
              <a:t> se red ne </a:t>
            </a:r>
            <a:r>
              <a:rPr lang="en-US" sz="2000" dirty="0" err="1"/>
              <a:t>očisti</a:t>
            </a:r>
            <a:r>
              <a:rPr lang="en-US" sz="2000" dirty="0"/>
              <a:t>.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21EE6-A613-7F00-0406-CF22DAB4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C951-3824-4F7E-8029-8AFB36C7F22D}" type="datetime1">
              <a:t>1/25/2026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9F950-2B51-A6DE-C81E-9835B70DA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71C04-3CB2-C1FD-7757-1CBBA01B2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27</a:t>
            </a:fld>
            <a:endParaRPr lang="en-US" dirty="0"/>
          </a:p>
        </p:txBody>
      </p:sp>
      <p:pic>
        <p:nvPicPr>
          <p:cNvPr id="9" name="Picture 8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FEDC1096-B4B4-F682-AB8E-CB1F41EDC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747" y="1712308"/>
            <a:ext cx="7346272" cy="372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5747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8C142-F67A-F4A8-179A-3C4C5E977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Vizualizacija</a:t>
            </a:r>
            <a:endParaRPr lang="en-US" dirty="0" err="1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79AD37-B89F-34B7-3764-53A0CC8B0C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565914"/>
            <a:ext cx="3633324" cy="33759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Frontend </a:t>
            </a:r>
            <a:r>
              <a:rPr lang="en-US" dirty="0" err="1">
                <a:ea typeface="+mn-lt"/>
                <a:cs typeface="+mn-lt"/>
              </a:rPr>
              <a:t>interfejs</a:t>
            </a:r>
            <a:r>
              <a:rPr lang="en-US" dirty="0">
                <a:ea typeface="+mn-lt"/>
                <a:cs typeface="+mn-lt"/>
              </a:rPr>
              <a:t> (React + Recharts) </a:t>
            </a:r>
            <a:r>
              <a:rPr lang="en-US" dirty="0" err="1">
                <a:ea typeface="+mn-lt"/>
                <a:cs typeface="+mn-lt"/>
              </a:rPr>
              <a:t>omogućava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praćenje</a:t>
            </a:r>
            <a:r>
              <a:rPr lang="en-US" dirty="0">
                <a:ea typeface="+mn-lt"/>
                <a:cs typeface="+mn-lt"/>
              </a:rPr>
              <a:t> u </a:t>
            </a:r>
            <a:r>
              <a:rPr lang="en-US" dirty="0" err="1">
                <a:ea typeface="+mn-lt"/>
                <a:cs typeface="+mn-lt"/>
              </a:rPr>
              <a:t>realnom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vremenu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E4CA7-2922-A775-2C1B-0D9DDE309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F8D2A-B7A0-4395-AB50-2D6A51146404}" type="datetime1">
              <a:t>1/25/2026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3FE70-1A1A-2022-48E3-618590333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442FD-ACAB-B4F1-82D3-DEFBE8EAA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28</a:t>
            </a:fld>
            <a:endParaRPr lang="en-US" dirty="0"/>
          </a:p>
        </p:txBody>
      </p:sp>
      <p:pic>
        <p:nvPicPr>
          <p:cNvPr id="8" name="Picture 7" descr="s1.png">
            <a:extLst>
              <a:ext uri="{FF2B5EF4-FFF2-40B4-BE49-F238E27FC236}">
                <a16:creationId xmlns:a16="http://schemas.microsoft.com/office/drawing/2014/main" id="{0501014F-C60B-D524-1971-F9BB387DE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710" y="1356978"/>
            <a:ext cx="6870138" cy="413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6407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 descr="Grafikon - primer 2">
            <a:extLst>
              <a:ext uri="{FF2B5EF4-FFF2-40B4-BE49-F238E27FC236}">
                <a16:creationId xmlns:a16="http://schemas.microsoft.com/office/drawing/2014/main" id="{A558EC2E-173F-B0AF-1805-079BDA3306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0180" y="387687"/>
            <a:ext cx="10011640" cy="596567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2BC9A-4817-66B1-5253-67B99483C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CECDC-F6E7-485F-84D5-F48C9B1B44A4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55BD7-A86E-7A3F-B866-3705B5C49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CC09-A689-2AF8-3F4E-FA3E6E317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29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7E0BA77-69D1-7E5A-5413-C37BFCE33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3709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3F73C-43A8-0F0B-615E-82A187DA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Zamke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Izazovi</a:t>
            </a:r>
            <a:r>
              <a:rPr lang="en-US" dirty="0">
                <a:ea typeface="+mj-lt"/>
                <a:cs typeface="+mj-lt"/>
              </a:rPr>
              <a:t> (Common Pitfalls)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104AC-841E-50D7-0513-B7BF2BE51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 err="1">
                <a:ea typeface="+mn-lt"/>
                <a:cs typeface="+mn-lt"/>
              </a:rPr>
              <a:t>Iako</a:t>
            </a:r>
            <a:r>
              <a:rPr lang="en-US" dirty="0">
                <a:ea typeface="+mn-lt"/>
                <a:cs typeface="+mn-lt"/>
              </a:rPr>
              <a:t> je Resilience4j </a:t>
            </a:r>
            <a:r>
              <a:rPr lang="en-US" dirty="0" err="1">
                <a:ea typeface="+mn-lt"/>
                <a:cs typeface="+mn-lt"/>
              </a:rPr>
              <a:t>moćan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alat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pogrešna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konfiguracija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može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napraviti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više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štete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nego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koristi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Podešavanje</a:t>
            </a:r>
            <a:r>
              <a:rPr lang="en-US" b="1" dirty="0">
                <a:ea typeface="+mn-lt"/>
                <a:cs typeface="+mn-lt"/>
              </a:rPr>
              <a:t> Thread Pool-a (Bulkhead):</a:t>
            </a:r>
            <a:r>
              <a:rPr lang="en-US" dirty="0">
                <a:ea typeface="+mn-lt"/>
                <a:cs typeface="+mn-lt"/>
              </a:rPr>
              <a:t> Ako je limit </a:t>
            </a:r>
            <a:r>
              <a:rPr lang="en-US" dirty="0" err="1">
                <a:ea typeface="+mn-lt"/>
                <a:cs typeface="+mn-lt"/>
              </a:rPr>
              <a:t>previše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nizak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odbijaćete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legitimne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zahteve</a:t>
            </a:r>
            <a:r>
              <a:rPr lang="en-US" dirty="0">
                <a:ea typeface="+mn-lt"/>
                <a:cs typeface="+mn-lt"/>
              </a:rPr>
              <a:t>. Ako je </a:t>
            </a:r>
            <a:r>
              <a:rPr lang="en-US" dirty="0" err="1">
                <a:ea typeface="+mn-lt"/>
                <a:cs typeface="+mn-lt"/>
              </a:rPr>
              <a:t>previše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visok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aplikacija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će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ostati</a:t>
            </a:r>
            <a:r>
              <a:rPr lang="en-US" dirty="0">
                <a:ea typeface="+mn-lt"/>
                <a:cs typeface="+mn-lt"/>
              </a:rPr>
              <a:t> bez </a:t>
            </a:r>
            <a:r>
              <a:rPr lang="en-US" dirty="0" err="1">
                <a:ea typeface="+mn-lt"/>
                <a:cs typeface="+mn-lt"/>
              </a:rPr>
              <a:t>memorije</a:t>
            </a:r>
            <a:r>
              <a:rPr lang="en-US" dirty="0">
                <a:ea typeface="+mn-lt"/>
                <a:cs typeface="+mn-lt"/>
              </a:rPr>
              <a:t> pre </a:t>
            </a:r>
            <a:r>
              <a:rPr lang="en-US" dirty="0" err="1">
                <a:ea typeface="+mn-lt"/>
                <a:cs typeface="+mn-lt"/>
              </a:rPr>
              <a:t>nego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što</a:t>
            </a:r>
            <a:r>
              <a:rPr lang="en-US" dirty="0">
                <a:ea typeface="+mn-lt"/>
                <a:cs typeface="+mn-lt"/>
              </a:rPr>
              <a:t> Bulkhead </a:t>
            </a:r>
            <a:r>
              <a:rPr lang="en-US" dirty="0" err="1">
                <a:ea typeface="+mn-lt"/>
                <a:cs typeface="+mn-lt"/>
              </a:rPr>
              <a:t>odreaguje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Redosled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aspekata</a:t>
            </a:r>
            <a:r>
              <a:rPr lang="en-US" b="1" dirty="0">
                <a:ea typeface="+mn-lt"/>
                <a:cs typeface="+mn-lt"/>
              </a:rPr>
              <a:t> (Aspect Order):</a:t>
            </a:r>
            <a:r>
              <a:rPr lang="en-US" dirty="0">
                <a:ea typeface="+mn-lt"/>
                <a:cs typeface="+mn-lt"/>
              </a:rPr>
              <a:t> * </a:t>
            </a:r>
            <a:r>
              <a:rPr lang="en-US" i="1" dirty="0">
                <a:ea typeface="+mn-lt"/>
                <a:cs typeface="+mn-lt"/>
              </a:rPr>
              <a:t>Problem:</a:t>
            </a:r>
            <a:r>
              <a:rPr lang="en-US" dirty="0">
                <a:ea typeface="+mn-lt"/>
                <a:cs typeface="+mn-lt"/>
              </a:rPr>
              <a:t> Ako je </a:t>
            </a:r>
            <a:r>
              <a:rPr lang="en-US" dirty="0">
                <a:latin typeface="Consolas"/>
              </a:rPr>
              <a:t>Retry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postavljen</a:t>
            </a:r>
            <a:r>
              <a:rPr lang="en-US" dirty="0">
                <a:ea typeface="+mn-lt"/>
                <a:cs typeface="+mn-lt"/>
              </a:rPr>
              <a:t> "</a:t>
            </a:r>
            <a:r>
              <a:rPr lang="en-US" dirty="0" err="1">
                <a:ea typeface="+mn-lt"/>
                <a:cs typeface="+mn-lt"/>
              </a:rPr>
              <a:t>iznad</a:t>
            </a:r>
            <a:r>
              <a:rPr lang="en-US" dirty="0">
                <a:ea typeface="+mn-lt"/>
                <a:cs typeface="+mn-lt"/>
              </a:rPr>
              <a:t>" </a:t>
            </a:r>
            <a:r>
              <a:rPr lang="en-US" dirty="0">
                <a:latin typeface="Consolas"/>
              </a:rPr>
              <a:t>Circuit Breaker</a:t>
            </a:r>
            <a:r>
              <a:rPr lang="en-US" dirty="0">
                <a:ea typeface="+mn-lt"/>
                <a:cs typeface="+mn-lt"/>
              </a:rPr>
              <a:t>-a, retry </a:t>
            </a:r>
            <a:r>
              <a:rPr lang="en-US" dirty="0" err="1">
                <a:ea typeface="+mn-lt"/>
                <a:cs typeface="+mn-lt"/>
              </a:rPr>
              <a:t>pozivi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će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dodatno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opterećivati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servis</a:t>
            </a:r>
            <a:r>
              <a:rPr lang="en-US" dirty="0">
                <a:ea typeface="+mn-lt"/>
                <a:cs typeface="+mn-lt"/>
              </a:rPr>
              <a:t> koji je </a:t>
            </a:r>
            <a:r>
              <a:rPr lang="en-US" dirty="0" err="1">
                <a:ea typeface="+mn-lt"/>
                <a:cs typeface="+mn-lt"/>
              </a:rPr>
              <a:t>već</a:t>
            </a:r>
            <a:r>
              <a:rPr lang="en-US" dirty="0">
                <a:ea typeface="+mn-lt"/>
                <a:cs typeface="+mn-lt"/>
              </a:rPr>
              <a:t> u "Open" </a:t>
            </a:r>
            <a:r>
              <a:rPr lang="en-US" dirty="0" err="1">
                <a:ea typeface="+mn-lt"/>
                <a:cs typeface="+mn-lt"/>
              </a:rPr>
              <a:t>stanju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493395" lvl="1"/>
            <a:r>
              <a:rPr lang="en-US" i="1" dirty="0" err="1">
                <a:ea typeface="+mn-lt"/>
                <a:cs typeface="+mn-lt"/>
              </a:rPr>
              <a:t>Rešenje</a:t>
            </a:r>
            <a:r>
              <a:rPr lang="en-US" i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Uvek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proveriti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redosled</a:t>
            </a:r>
            <a:r>
              <a:rPr lang="en-US" dirty="0">
                <a:ea typeface="+mn-lt"/>
                <a:cs typeface="+mn-lt"/>
              </a:rPr>
              <a:t> u </a:t>
            </a:r>
            <a:r>
              <a:rPr lang="en-US" dirty="0" err="1">
                <a:latin typeface="Consolas"/>
              </a:rPr>
              <a:t>application.yaml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npr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>
                <a:latin typeface="Consolas"/>
              </a:rPr>
              <a:t>circuit-breaker-aspect-order</a:t>
            </a:r>
            <a:r>
              <a:rPr lang="en-US" dirty="0">
                <a:ea typeface="+mn-lt"/>
                <a:cs typeface="+mn-lt"/>
              </a:rPr>
              <a:t>).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Problem "Stale" </a:t>
            </a:r>
            <a:r>
              <a:rPr lang="en-US" b="1" dirty="0" err="1">
                <a:ea typeface="+mn-lt"/>
                <a:cs typeface="+mn-lt"/>
              </a:rPr>
              <a:t>podataka</a:t>
            </a:r>
            <a:r>
              <a:rPr lang="en-US" b="1" dirty="0">
                <a:ea typeface="+mn-lt"/>
                <a:cs typeface="+mn-lt"/>
              </a:rPr>
              <a:t> u DLQ:</a:t>
            </a:r>
            <a:r>
              <a:rPr lang="en-US" dirty="0">
                <a:ea typeface="+mn-lt"/>
                <a:cs typeface="+mn-lt"/>
              </a:rPr>
              <a:t> * </a:t>
            </a:r>
            <a:r>
              <a:rPr lang="en-US" dirty="0" err="1">
                <a:ea typeface="+mn-lt"/>
                <a:cs typeface="+mn-lt"/>
              </a:rPr>
              <a:t>Transakcije</a:t>
            </a:r>
            <a:r>
              <a:rPr lang="en-US" dirty="0">
                <a:ea typeface="+mn-lt"/>
                <a:cs typeface="+mn-lt"/>
              </a:rPr>
              <a:t> u Dead Letter Queue-u ne </a:t>
            </a:r>
            <a:r>
              <a:rPr lang="en-US" dirty="0" err="1">
                <a:ea typeface="+mn-lt"/>
                <a:cs typeface="+mn-lt"/>
              </a:rPr>
              <a:t>smeju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beskonačno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čekati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Potrebno</a:t>
            </a:r>
            <a:r>
              <a:rPr lang="en-US" dirty="0">
                <a:ea typeface="+mn-lt"/>
                <a:cs typeface="+mn-lt"/>
              </a:rPr>
              <a:t> je </a:t>
            </a:r>
            <a:r>
              <a:rPr lang="en-US" dirty="0" err="1">
                <a:ea typeface="+mn-lt"/>
                <a:cs typeface="+mn-lt"/>
              </a:rPr>
              <a:t>definisati</a:t>
            </a:r>
            <a:r>
              <a:rPr lang="en-US" dirty="0">
                <a:ea typeface="+mn-lt"/>
                <a:cs typeface="+mn-lt"/>
              </a:rPr>
              <a:t> TTL (Time-to-Live) </a:t>
            </a:r>
            <a:r>
              <a:rPr lang="en-US" dirty="0" err="1">
                <a:ea typeface="+mn-lt"/>
                <a:cs typeface="+mn-lt"/>
              </a:rPr>
              <a:t>ili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strategiju</a:t>
            </a:r>
            <a:r>
              <a:rPr lang="en-US" dirty="0">
                <a:ea typeface="+mn-lt"/>
                <a:cs typeface="+mn-lt"/>
              </a:rPr>
              <a:t> za </a:t>
            </a:r>
            <a:r>
              <a:rPr lang="en-US" dirty="0" err="1">
                <a:ea typeface="+mn-lt"/>
                <a:cs typeface="+mn-lt"/>
              </a:rPr>
              <a:t>zastarele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podatke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Preterano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korišćenje</a:t>
            </a:r>
            <a:r>
              <a:rPr lang="en-US" b="1" dirty="0">
                <a:ea typeface="+mn-lt"/>
                <a:cs typeface="+mn-lt"/>
              </a:rPr>
              <a:t> Retry </a:t>
            </a:r>
            <a:r>
              <a:rPr lang="en-US" b="1" dirty="0" err="1">
                <a:ea typeface="+mn-lt"/>
                <a:cs typeface="+mn-lt"/>
              </a:rPr>
              <a:t>mehanizma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* </a:t>
            </a:r>
            <a:r>
              <a:rPr lang="en-US" dirty="0" err="1">
                <a:ea typeface="+mn-lt"/>
                <a:cs typeface="+mn-lt"/>
              </a:rPr>
              <a:t>Beskonačni</a:t>
            </a:r>
            <a:r>
              <a:rPr lang="en-US" dirty="0">
                <a:ea typeface="+mn-lt"/>
                <a:cs typeface="+mn-lt"/>
              </a:rPr>
              <a:t> retry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"Hard Error" (</a:t>
            </a:r>
            <a:r>
              <a:rPr lang="en-US" dirty="0" err="1">
                <a:ea typeface="+mn-lt"/>
                <a:cs typeface="+mn-lt"/>
              </a:rPr>
              <a:t>npr</a:t>
            </a:r>
            <a:r>
              <a:rPr lang="en-US" dirty="0">
                <a:ea typeface="+mn-lt"/>
                <a:cs typeface="+mn-lt"/>
              </a:rPr>
              <a:t>. 400 Bad Request) je </a:t>
            </a:r>
            <a:r>
              <a:rPr lang="en-US" dirty="0" err="1">
                <a:ea typeface="+mn-lt"/>
                <a:cs typeface="+mn-lt"/>
              </a:rPr>
              <a:t>besmislen</a:t>
            </a:r>
            <a:r>
              <a:rPr lang="en-US" dirty="0">
                <a:ea typeface="+mn-lt"/>
                <a:cs typeface="+mn-lt"/>
              </a:rPr>
              <a:t>. Retry </a:t>
            </a:r>
            <a:r>
              <a:rPr lang="en-US" dirty="0" err="1">
                <a:ea typeface="+mn-lt"/>
                <a:cs typeface="+mn-lt"/>
              </a:rPr>
              <a:t>treba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koristiti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samo</a:t>
            </a:r>
            <a:r>
              <a:rPr lang="en-US" dirty="0">
                <a:ea typeface="+mn-lt"/>
                <a:cs typeface="+mn-lt"/>
              </a:rPr>
              <a:t> za "Transient" </a:t>
            </a:r>
            <a:r>
              <a:rPr lang="en-US" dirty="0" err="1">
                <a:ea typeface="+mn-lt"/>
                <a:cs typeface="+mn-lt"/>
              </a:rPr>
              <a:t>greške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dirty="0" err="1">
                <a:ea typeface="+mn-lt"/>
                <a:cs typeface="+mn-lt"/>
              </a:rPr>
              <a:t>npr</a:t>
            </a:r>
            <a:r>
              <a:rPr lang="en-US" dirty="0">
                <a:ea typeface="+mn-lt"/>
                <a:cs typeface="+mn-lt"/>
              </a:rPr>
              <a:t>. 503, timeout, </a:t>
            </a:r>
            <a:r>
              <a:rPr lang="en-US" dirty="0" err="1">
                <a:ea typeface="+mn-lt"/>
                <a:cs typeface="+mn-lt"/>
              </a:rPr>
              <a:t>mrežni</a:t>
            </a:r>
            <a:r>
              <a:rPr lang="en-US" dirty="0">
                <a:ea typeface="+mn-lt"/>
                <a:cs typeface="+mn-lt"/>
              </a:rPr>
              <a:t> glitch).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BC4D9-4ACE-9F80-085D-438942D9E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20478-6B30-47AE-AED5-775BD85F2849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49DBA-6D0A-DA3E-7BE6-757405AE1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61796-1603-2911-822E-6B50EACE7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5729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042CA-993F-52A4-980D-B2E4CF5A5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Zaključak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Lekcije</a:t>
            </a:r>
            <a:r>
              <a:rPr lang="en-US" dirty="0">
                <a:ea typeface="+mj-lt"/>
                <a:cs typeface="+mj-lt"/>
              </a:rPr>
              <a:t> (Key Takeaways)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85EFC-1F3A-FD50-C37C-04953CA96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ea typeface="+mn-lt"/>
                <a:cs typeface="+mn-lt"/>
              </a:rPr>
              <a:t>Otpornost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nije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slučajnost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Bez </a:t>
            </a:r>
            <a:r>
              <a:rPr lang="en-US" dirty="0" err="1">
                <a:ea typeface="+mn-lt"/>
                <a:cs typeface="+mn-lt"/>
              </a:rPr>
              <a:t>eksplicitnih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mehanizama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kao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što</a:t>
            </a:r>
            <a:r>
              <a:rPr lang="en-US" dirty="0">
                <a:ea typeface="+mn-lt"/>
                <a:cs typeface="+mn-lt"/>
              </a:rPr>
              <a:t> je Resilience4j, </a:t>
            </a:r>
            <a:r>
              <a:rPr lang="en-US" dirty="0" err="1">
                <a:ea typeface="+mn-lt"/>
                <a:cs typeface="+mn-lt"/>
              </a:rPr>
              <a:t>sistemi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</a:t>
            </a:r>
            <a:r>
              <a:rPr lang="en-US" dirty="0">
                <a:ea typeface="+mn-lt"/>
                <a:cs typeface="+mn-lt"/>
              </a:rPr>
              <a:t> "</a:t>
            </a:r>
            <a:r>
              <a:rPr lang="en-US" dirty="0" err="1">
                <a:ea typeface="+mn-lt"/>
                <a:cs typeface="+mn-lt"/>
              </a:rPr>
              <a:t>krhki</a:t>
            </a:r>
            <a:r>
              <a:rPr lang="en-US" dirty="0">
                <a:ea typeface="+mn-lt"/>
                <a:cs typeface="+mn-lt"/>
              </a:rPr>
              <a:t>"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greška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jednom</a:t>
            </a:r>
            <a:r>
              <a:rPr lang="en-US" dirty="0">
                <a:ea typeface="+mn-lt"/>
                <a:cs typeface="+mn-lt"/>
              </a:rPr>
              <a:t> API-</a:t>
            </a:r>
            <a:r>
              <a:rPr lang="en-US" dirty="0" err="1">
                <a:ea typeface="+mn-lt"/>
                <a:cs typeface="+mn-lt"/>
              </a:rPr>
              <a:t>ju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brzo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širi</a:t>
            </a:r>
            <a:r>
              <a:rPr lang="en-US" dirty="0">
                <a:ea typeface="+mn-lt"/>
                <a:cs typeface="+mn-lt"/>
              </a:rPr>
              <a:t> (Cascade Failure).</a:t>
            </a:r>
            <a:endParaRPr lang="en-US" dirty="0"/>
          </a:p>
          <a:p>
            <a:r>
              <a:rPr lang="en-US" b="1" dirty="0" err="1">
                <a:ea typeface="+mn-lt"/>
                <a:cs typeface="+mn-lt"/>
              </a:rPr>
              <a:t>Vizuelna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potvrda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Demo je </a:t>
            </a:r>
            <a:r>
              <a:rPr lang="en-US" dirty="0" err="1">
                <a:ea typeface="+mn-lt"/>
                <a:cs typeface="+mn-lt"/>
              </a:rPr>
              <a:t>pokazao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sistem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</a:t>
            </a:r>
            <a:r>
              <a:rPr lang="en-US" dirty="0">
                <a:ea typeface="+mn-lt"/>
                <a:cs typeface="+mn-lt"/>
              </a:rPr>
              <a:t> Resilience4j </a:t>
            </a:r>
            <a:r>
              <a:rPr lang="en-US" dirty="0" err="1">
                <a:ea typeface="+mn-lt"/>
                <a:cs typeface="+mn-lt"/>
              </a:rPr>
              <a:t>obrađuje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transakcije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čak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nakon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prestanka</a:t>
            </a:r>
            <a:r>
              <a:rPr lang="en-US" dirty="0">
                <a:ea typeface="+mn-lt"/>
                <a:cs typeface="+mn-lt"/>
              </a:rPr>
              <a:t> downtime-a (</a:t>
            </a:r>
            <a:r>
              <a:rPr lang="en-US" dirty="0" err="1">
                <a:ea typeface="+mn-lt"/>
                <a:cs typeface="+mn-lt"/>
              </a:rPr>
              <a:t>zahvaljujući</a:t>
            </a:r>
            <a:r>
              <a:rPr lang="en-US" dirty="0">
                <a:ea typeface="+mn-lt"/>
                <a:cs typeface="+mn-lt"/>
              </a:rPr>
              <a:t> DLQ </a:t>
            </a:r>
            <a:r>
              <a:rPr lang="en-US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Circuit Breaker-u), </a:t>
            </a:r>
            <a:r>
              <a:rPr lang="en-US" dirty="0" err="1">
                <a:ea typeface="+mn-lt"/>
                <a:cs typeface="+mn-lt"/>
              </a:rPr>
              <a:t>dok</a:t>
            </a:r>
            <a:r>
              <a:rPr lang="en-US" dirty="0">
                <a:ea typeface="+mn-lt"/>
                <a:cs typeface="+mn-lt"/>
              </a:rPr>
              <a:t> "</a:t>
            </a:r>
            <a:r>
              <a:rPr lang="en-US" dirty="0" err="1">
                <a:ea typeface="+mn-lt"/>
                <a:cs typeface="+mn-lt"/>
              </a:rPr>
              <a:t>nebezbedni</a:t>
            </a:r>
            <a:r>
              <a:rPr lang="en-US" dirty="0">
                <a:ea typeface="+mn-lt"/>
                <a:cs typeface="+mn-lt"/>
              </a:rPr>
              <a:t>" </a:t>
            </a:r>
            <a:r>
              <a:rPr lang="en-US" dirty="0" err="1">
                <a:ea typeface="+mn-lt"/>
                <a:cs typeface="+mn-lt"/>
              </a:rPr>
              <a:t>sistem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trajno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gubi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podatke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User Experience: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Umesto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beskonačnog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učitavanja</a:t>
            </a:r>
            <a:r>
              <a:rPr lang="en-US" dirty="0">
                <a:ea typeface="+mn-lt"/>
                <a:cs typeface="+mn-lt"/>
              </a:rPr>
              <a:t> (timeout), </a:t>
            </a:r>
            <a:r>
              <a:rPr lang="en-US" dirty="0" err="1">
                <a:ea typeface="+mn-lt"/>
                <a:cs typeface="+mn-lt"/>
              </a:rPr>
              <a:t>korisnik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dobija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brz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odgovor</a:t>
            </a:r>
            <a:r>
              <a:rPr lang="en-US" dirty="0">
                <a:ea typeface="+mn-lt"/>
                <a:cs typeface="+mn-lt"/>
              </a:rPr>
              <a:t> (fallback), a </a:t>
            </a:r>
            <a:r>
              <a:rPr lang="en-US" dirty="0" err="1">
                <a:ea typeface="+mn-lt"/>
                <a:cs typeface="+mn-lt"/>
              </a:rPr>
              <a:t>sistem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nastavlja</a:t>
            </a:r>
            <a:r>
              <a:rPr lang="en-US" dirty="0">
                <a:ea typeface="+mn-lt"/>
                <a:cs typeface="+mn-lt"/>
              </a:rPr>
              <a:t> da </a:t>
            </a:r>
            <a:r>
              <a:rPr lang="en-US" dirty="0" err="1">
                <a:ea typeface="+mn-lt"/>
                <a:cs typeface="+mn-lt"/>
              </a:rPr>
              <a:t>radi</a:t>
            </a:r>
            <a:r>
              <a:rPr lang="en-US" dirty="0">
                <a:ea typeface="+mn-lt"/>
                <a:cs typeface="+mn-lt"/>
              </a:rPr>
              <a:t> u </a:t>
            </a:r>
            <a:r>
              <a:rPr lang="en-US" dirty="0" err="1">
                <a:ea typeface="+mn-lt"/>
                <a:cs typeface="+mn-lt"/>
              </a:rPr>
              <a:t>pozadini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A6A4D-C4A9-A69B-4BF5-A378DCCFA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AF8EA-A832-4D81-8D8F-DF8687BBB151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1F0E1-F429-94E0-BFAD-4C72836AC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82A552-17D8-9C57-C981-2DE7BA7B5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3619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E25E-1619-4993-1379-D45980D36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616CA3-CA77-3657-E507-D0FEF9A7A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120CB-56A2-420E-B3F1-4844EDDA7D0A}" type="datetime1">
              <a:t>1/25/2026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AB44F-982D-0A38-C687-D6B72C9D6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35280-50D7-CEF7-1087-7F80CFDF5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32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98C13AE-BF4A-A300-A7D1-921C54C41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0611" y="1621843"/>
            <a:ext cx="9277518" cy="361193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6000" dirty="0"/>
              <a:t>HVALA NA PAŽNJI</a:t>
            </a:r>
          </a:p>
        </p:txBody>
      </p:sp>
    </p:spTree>
    <p:extLst>
      <p:ext uri="{BB962C8B-B14F-4D97-AF65-F5344CB8AC3E}">
        <p14:creationId xmlns:p14="http://schemas.microsoft.com/office/powerpoint/2010/main" val="225032736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DashVTI</vt:lpstr>
      <vt:lpstr>Otpornost i tolerancija na greške u Java aplikacijama korišćenjem Resilience4j.</vt:lpstr>
      <vt:lpstr>Problem – Zašto nam treba Resilience?</vt:lpstr>
      <vt:lpstr>Šta je Resilience4j?</vt:lpstr>
      <vt:lpstr>Circuit Breaker (Prekidač)</vt:lpstr>
      <vt:lpstr>Kako zapravo funkcioniše?</vt:lpstr>
      <vt:lpstr>Glavni parametri</vt:lpstr>
      <vt:lpstr>Lifecycle (Tranzicije)</vt:lpstr>
      <vt:lpstr>Bulkhead (Pregrada)</vt:lpstr>
      <vt:lpstr>Resource Exhaustion</vt:lpstr>
      <vt:lpstr>Tipovi implementacije</vt:lpstr>
      <vt:lpstr>Glavni parametri Semaphore Bulkhead</vt:lpstr>
      <vt:lpstr>Glavni parametri Fixed Thread Pool </vt:lpstr>
      <vt:lpstr>Retry (Ponovni pokušaj)</vt:lpstr>
      <vt:lpstr>Strategije čekanja (Backoff) </vt:lpstr>
      <vt:lpstr>Glavni parametri</vt:lpstr>
      <vt:lpstr>⚠️ Idempotentnost</vt:lpstr>
      <vt:lpstr>Rate Limiter</vt:lpstr>
      <vt:lpstr>Glavni parametri</vt:lpstr>
      <vt:lpstr>Cheat Sheet</vt:lpstr>
      <vt:lpstr>Arhitektura Demo-a</vt:lpstr>
      <vt:lpstr>Nepredvidiv Saobraćaj (Traffic Generator)</vt:lpstr>
      <vt:lpstr>Nestabilan Eksterni Servis (Fault Injection)</vt:lpstr>
      <vt:lpstr>Konfiguracija</vt:lpstr>
      <vt:lpstr>Java implementacija</vt:lpstr>
      <vt:lpstr>Fallback metoda</vt:lpstr>
      <vt:lpstr>Pametni Oporavak (Self-Healing)</vt:lpstr>
      <vt:lpstr>Pametni Oporavak  (Self-Healing) </vt:lpstr>
      <vt:lpstr>Vizualizacija</vt:lpstr>
      <vt:lpstr>PowerPoint Presentation</vt:lpstr>
      <vt:lpstr>Zamke i Izazovi (Common Pitfalls)</vt:lpstr>
      <vt:lpstr>Zaključak i Lekcije (Key Takeaways)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434</cp:revision>
  <dcterms:created xsi:type="dcterms:W3CDTF">2026-01-25T19:34:47Z</dcterms:created>
  <dcterms:modified xsi:type="dcterms:W3CDTF">2026-01-25T22:58:41Z</dcterms:modified>
</cp:coreProperties>
</file>